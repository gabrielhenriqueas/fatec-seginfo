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71" r:id="rId8"/>
    <p:sldId id="272" r:id="rId9"/>
    <p:sldId id="264" r:id="rId10"/>
    <p:sldId id="275" r:id="rId11"/>
    <p:sldId id="276" r:id="rId12"/>
    <p:sldId id="259" r:id="rId13"/>
    <p:sldId id="273" r:id="rId14"/>
    <p:sldId id="274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24" autoAdjust="0"/>
    <p:restoredTop sz="94660"/>
  </p:normalViewPr>
  <p:slideViewPr>
    <p:cSldViewPr snapToGrid="0">
      <p:cViewPr varScale="1">
        <p:scale>
          <a:sx n="83" d="100"/>
          <a:sy n="83" d="100"/>
        </p:scale>
        <p:origin x="3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49314-ED11-45B6-9332-3A1E84971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6AB22D-DB7A-4785-95F7-11B212467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98DD9C-3776-40CE-A8DE-A56A2539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CE009A-A834-4D38-A284-86E3F262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60DEA0-3E09-4DE8-B0A6-7C3E94E1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33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8704F-0BC3-4651-8FE5-8AFBF68E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187BA5-1CA6-4B38-978E-E325FFC44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05DD18-AAEF-459A-BB95-AD5EEB66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CFCB59-F6A9-451D-A324-C1370433F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00AEC4-DDCC-41A9-AFBC-0E9E3433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073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99677-9DE0-4FF1-93FF-6989AE228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91F9AB-049B-4F4F-B1EE-F03B033B8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BA30D0-E1EC-4C23-B37E-0C8E6088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5AA76A-4C23-48F5-BF2D-0E69955D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E37E7A-8503-4B45-B64A-26BCB88C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95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923B2-B0AC-4ECD-8E9E-B7C5BB1C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752107-D4AA-48FF-8C37-AE542A1BB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1BF1C3-185E-4476-805C-33BF0A75C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ABD7A4-3161-4D05-BBF1-DF45A693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69620C-5BC7-4FAE-A1F5-C06B6BAA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168FC1-0701-4F11-8807-CCB97D74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11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CDB80-C2EA-49E0-868A-ABA235E1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BC4CD0-2567-4DAB-93F1-97EE9F754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66C424-E95C-48BF-B0A5-B531A7475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E16886-B2F7-4423-AB3D-FB4650F17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D77B3B2-5484-428D-9217-DFFAFA6E2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30A3D7B-80DD-4283-A79C-F78714F7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B39F7A-58B1-4CA3-A961-3A8B67A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DC2283-4EC6-4B8F-B8BE-0182337C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574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2DDB4-A270-4E5F-BEF5-6165A887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66DC9F-4BB2-4529-B82F-05DFBA11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A2E881-A1AF-4ACB-926B-6D6858C9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798737-1AB8-4E07-8346-F859859B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450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B27D07-216C-415A-AFA6-02F5611D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81B9FE-5834-4CF2-84F5-51C0D7FC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71A7CF-D6DE-4E2E-8966-6553F114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93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69D18-3B3B-40BA-BDCD-A7A16E37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ACBEA3-FA15-429C-93BF-7CCE26284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4E0673-FFD6-4953-B30B-08F24E99F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2761B3-33FB-4349-9528-0236FA77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178F0F-DCBF-479B-8911-9D6363F5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B09C63-A354-4A87-83F8-6BF2B13B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283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7FC9B-9815-4810-9781-BF9F772C0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81E3518-AF98-4B81-B2F5-90D58EFCD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19AE60-D829-4651-9683-0BD2161F4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AF32BC-E1ED-4F26-AEC2-5BFFB0DB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BE7A1D-0BD2-4AFC-BB24-9CE180E0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0699FC-6262-4D64-A3C7-5A38D1EC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90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5A9BD-E8E6-4A91-BA12-1D7B73E3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8A45A1-ECB3-4B79-9C70-7BE49F4A1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583B60-03E8-4C38-A1AF-7068E7F8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1567C5-889A-4012-AF6C-7B80A72E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581170-04D7-4C78-B257-999B8149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05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CEF4A0-DCB5-41FB-A737-F9B8F4153E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EF6A15-A079-4533-8513-A0290D8D2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FBD37-3792-4CF7-8E11-12FB48489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8040D0-BA11-4008-8A32-9A94B68E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92ADCD-EE92-4D31-8387-08693D3E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384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D82F-4EDC-49F1-9B28-C237C8B75C57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C17-C46A-4EA9-988B-65082669AAE1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657DB9D-3509-406D-97CB-96FBD781C8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" y="5805265"/>
            <a:ext cx="12216000" cy="104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8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A31F244-000B-47AF-A2F6-A066D670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81258A-3236-40D8-BAC9-BF3E17905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885314-95A9-4A9D-A24B-1702EBF99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AFF9A-038A-427B-8EDB-7884656B5ADD}" type="datetimeFigureOut">
              <a:rPr lang="pt-BR" smtClean="0"/>
              <a:t>08/02/2022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CFF9FD-B51A-4E3D-99DD-E320F623A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C8234C-F8D3-4820-8B22-D1F734EE2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E9776-6E5C-4074-9EE9-1070C241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20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31439-5CD5-4202-AA4E-1CC1933145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6000" b="1" dirty="0">
                <a:effectLst/>
              </a:rPr>
              <a:t>Infraestrutura Física em Redes de Computadores</a:t>
            </a:r>
            <a:br>
              <a:rPr lang="pt-BR" sz="6000" dirty="0">
                <a:effectLst/>
              </a:rPr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CF2AF5-F76F-495E-8594-20AC5EB4E9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Prof. Rodrigo Amorim</a:t>
            </a:r>
          </a:p>
        </p:txBody>
      </p:sp>
    </p:spTree>
    <p:extLst>
      <p:ext uri="{BB962C8B-B14F-4D97-AF65-F5344CB8AC3E}">
        <p14:creationId xmlns:p14="http://schemas.microsoft.com/office/powerpoint/2010/main" val="190518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1140909B-1EF3-4643-930E-FBBECEC88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3611735"/>
              </p:ext>
            </p:extLst>
          </p:nvPr>
        </p:nvGraphicFramePr>
        <p:xfrm>
          <a:off x="838201" y="255626"/>
          <a:ext cx="10515598" cy="6346748"/>
        </p:xfrm>
        <a:graphic>
          <a:graphicData uri="http://schemas.openxmlformats.org/drawingml/2006/table">
            <a:tbl>
              <a:tblPr/>
              <a:tblGrid>
                <a:gridCol w="10515598">
                  <a:extLst>
                    <a:ext uri="{9D8B030D-6E8A-4147-A177-3AD203B41FA5}">
                      <a16:colId xmlns:a16="http://schemas.microsoft.com/office/drawing/2014/main" val="58268734"/>
                    </a:ext>
                  </a:extLst>
                </a:gridCol>
              </a:tblGrid>
              <a:tr h="1258956">
                <a:tc>
                  <a:txBody>
                    <a:bodyPr/>
                    <a:lstStyle/>
                    <a:p>
                      <a:pPr algn="ctr"/>
                      <a:r>
                        <a:rPr lang="pt-BR" sz="3200" b="1" dirty="0">
                          <a:effectLst/>
                        </a:rPr>
                        <a:t>Infraestrutura Física em Redes de Computadores</a:t>
                      </a:r>
                      <a:endParaRPr lang="pt-BR" sz="3200" dirty="0">
                        <a:effectLst/>
                      </a:endParaRPr>
                    </a:p>
                  </a:txBody>
                  <a:tcPr marL="50015" marR="50015" marT="25008" marB="25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474394"/>
                  </a:ext>
                </a:extLst>
              </a:tr>
              <a:tr h="105194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>
                          <a:effectLst/>
                        </a:rPr>
                        <a:t>Semestre: 4º semestre</a:t>
                      </a:r>
                    </a:p>
                    <a:p>
                      <a:pPr algn="just"/>
                      <a:r>
                        <a:rPr lang="pt-BR" sz="2800" dirty="0"/>
                        <a:t>Carga Horário: 80 horas</a:t>
                      </a:r>
                    </a:p>
                    <a:p>
                      <a:pPr algn="just"/>
                      <a:endParaRPr lang="pt-BR" sz="1800" dirty="0"/>
                    </a:p>
                    <a:p>
                      <a:pPr algn="just"/>
                      <a:r>
                        <a:rPr lang="pt-BR" sz="2800" b="1" dirty="0"/>
                        <a:t>Objetivo: </a:t>
                      </a:r>
                      <a:r>
                        <a:rPr lang="pt-BR" sz="2800" dirty="0"/>
                        <a:t>Tornar o aluno apto a utilizar boas práticas de mercado na definição dos componentes da camada física em redes de computadores.</a:t>
                      </a:r>
                    </a:p>
                  </a:txBody>
                  <a:tcPr marL="50015" marR="50015" marT="25008" marB="25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876663"/>
                  </a:ext>
                </a:extLst>
              </a:tr>
              <a:tr h="2629856">
                <a:tc>
                  <a:txBody>
                    <a:bodyPr/>
                    <a:lstStyle/>
                    <a:p>
                      <a:pPr algn="just"/>
                      <a:r>
                        <a:rPr lang="pt-BR" sz="2800" b="1" dirty="0"/>
                        <a:t>Ementa: </a:t>
                      </a:r>
                      <a:r>
                        <a:rPr lang="pt-BR" sz="2800" dirty="0"/>
                        <a:t>Aborda os principais padrões, procedimentos e ferramentas utilizados na definição dos componentes da camada física em redes de computadores, dando ênfase à utilização do cabeamento estruturado e incluindo os procedimentos de instalação, testes e certificação, bem como as técnicas de troubleshooting (identificação e resolução de problemas).</a:t>
                      </a:r>
                    </a:p>
                  </a:txBody>
                  <a:tcPr marL="50015" marR="50015" marT="25008" marB="25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4543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94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A7AFC-1B00-42A7-8D1E-2D96503A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Horários de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70AB71-4FC2-47A4-A32F-BABCD393D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4000" dirty="0"/>
              <a:t>QUARTA</a:t>
            </a:r>
          </a:p>
          <a:p>
            <a:pPr lvl="1"/>
            <a:r>
              <a:rPr lang="pt-BR" sz="3600" dirty="0"/>
              <a:t>8h50 – 12h20</a:t>
            </a:r>
          </a:p>
          <a:p>
            <a:pPr marL="0" indent="0">
              <a:buNone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619360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49EE3-F0F4-42A4-B2F5-7FD87757E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pt-BR" b="1" dirty="0"/>
              <a:t>Cursos de Tecnologia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EFD7C8-32A0-4538-A9ED-3F2CC98CA7A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55374" y="1134940"/>
            <a:ext cx="10310191" cy="438943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/>
              <a:t>Nível Superior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/>
              <a:t>No Brasil desde 1970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>
                <a:latin typeface="+mj-lt"/>
              </a:rPr>
              <a:t>Cursos mais novos (50 anos no Brasil)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>
                <a:latin typeface="+mj-lt"/>
              </a:rPr>
              <a:t>Curta duração (de 2 a 3 anos)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/>
              <a:t>Cursos de 1600 a 2880 horas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/>
              <a:t>Cursos acima de 2000 horas permitem realização de Mestrado e Doutorado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endParaRPr lang="pt-BR" dirty="0">
              <a:latin typeface="+mj-lt"/>
            </a:endParaRP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endParaRPr lang="pt-BR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14FF1-5A27-4815-8413-62033AD61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430"/>
            <a:ext cx="8229600" cy="1143000"/>
          </a:xfrm>
        </p:spPr>
        <p:txBody>
          <a:bodyPr/>
          <a:lstStyle/>
          <a:p>
            <a:pPr algn="ctr"/>
            <a:r>
              <a:rPr lang="pt-BR" b="1" dirty="0"/>
              <a:t>Cursos de Tecnologia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D9E7B3-7607-4F49-9230-A25804C5EE5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85441" y="1442369"/>
            <a:ext cx="9415670" cy="46726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/>
              <a:t>Formação mais específica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/>
              <a:t>Ingresso rápido no mercado de trabalho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/>
              <a:t>Alto índice de empregabilidade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/>
              <a:t>Menor investimento de tempo e dinheiro</a:t>
            </a:r>
          </a:p>
          <a:p>
            <a:pPr>
              <a:lnSpc>
                <a:spcPct val="150000"/>
              </a:lnSpc>
              <a:buClr>
                <a:schemeClr val="accent3"/>
              </a:buClr>
              <a:defRPr/>
            </a:pPr>
            <a:r>
              <a:rPr lang="pt-BR" dirty="0"/>
              <a:t>Para tecnólogos em exatas, formação similar à engenharia</a:t>
            </a:r>
          </a:p>
          <a:p>
            <a:pPr lvl="1">
              <a:lnSpc>
                <a:spcPct val="150000"/>
              </a:lnSpc>
            </a:pPr>
            <a:endParaRPr lang="pt-B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518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>
            <a:extLst>
              <a:ext uri="{FF2B5EF4-FFF2-40B4-BE49-F238E27FC236}">
                <a16:creationId xmlns:a16="http://schemas.microsoft.com/office/drawing/2014/main" id="{DAE3F8FD-A217-4263-A853-59A6E9593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91281"/>
            <a:ext cx="8229600" cy="1143000"/>
          </a:xfrm>
        </p:spPr>
        <p:txBody>
          <a:bodyPr/>
          <a:lstStyle/>
          <a:p>
            <a:pPr algn="ctr" eaLnBrk="1" hangingPunct="1"/>
            <a:r>
              <a:rPr lang="pt-BR" altLang="pt-BR" b="1" dirty="0"/>
              <a:t>Curriculum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DA6E62-660E-4A58-A955-359D347164D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2278" y="1234281"/>
            <a:ext cx="11635409" cy="4927979"/>
          </a:xfrm>
        </p:spPr>
        <p:txBody>
          <a:bodyPr>
            <a:normAutofit/>
          </a:bodyPr>
          <a:lstStyle/>
          <a:p>
            <a:pPr marL="274320" indent="-274320">
              <a:lnSpc>
                <a:spcPct val="150000"/>
              </a:lnSpc>
              <a:buClr>
                <a:schemeClr val="accent3"/>
              </a:buClr>
              <a:buFont typeface="Wingdings 2"/>
              <a:buChar char=""/>
              <a:defRPr/>
            </a:pPr>
            <a:r>
              <a:rPr lang="pt-BR" altLang="pt-BR" b="1" dirty="0">
                <a:latin typeface="+mj-lt"/>
              </a:rPr>
              <a:t>Tecnólogo em Materiais, Processos e Componentes Eletrônicos (FATEC-SP 2002)</a:t>
            </a:r>
          </a:p>
          <a:p>
            <a:pPr marL="274320" indent="-274320">
              <a:lnSpc>
                <a:spcPct val="150000"/>
              </a:lnSpc>
              <a:buClr>
                <a:schemeClr val="accent3"/>
              </a:buClr>
              <a:buFont typeface="Wingdings 2"/>
              <a:buChar char=""/>
              <a:defRPr/>
            </a:pPr>
            <a:r>
              <a:rPr lang="pt-BR" altLang="pt-BR" b="1" dirty="0">
                <a:latin typeface="+mj-lt"/>
              </a:rPr>
              <a:t>Mestre em Engenharia Elétrica (EPUSP 2004)</a:t>
            </a:r>
          </a:p>
          <a:p>
            <a:pPr marL="274320" indent="-274320">
              <a:lnSpc>
                <a:spcPct val="150000"/>
              </a:lnSpc>
              <a:buClr>
                <a:schemeClr val="accent3"/>
              </a:buClr>
              <a:buFont typeface="Wingdings 2"/>
              <a:buChar char=""/>
              <a:defRPr/>
            </a:pPr>
            <a:r>
              <a:rPr lang="pt-BR" altLang="pt-BR" b="1" dirty="0">
                <a:latin typeface="+mj-lt"/>
              </a:rPr>
              <a:t>Doutor em Engenharia Elétrica (EPUSP 2009)</a:t>
            </a:r>
          </a:p>
          <a:p>
            <a:pPr marL="274320" indent="-274320">
              <a:lnSpc>
                <a:spcPct val="150000"/>
              </a:lnSpc>
              <a:buClr>
                <a:schemeClr val="accent3"/>
              </a:buClr>
              <a:buFont typeface="Wingdings 2"/>
              <a:buChar char=""/>
              <a:defRPr/>
            </a:pPr>
            <a:r>
              <a:rPr lang="pt-BR" altLang="pt-BR" b="1" dirty="0">
                <a:latin typeface="+mj-lt"/>
              </a:rPr>
              <a:t>Professor da Faculdade de Tecnologia de São Caetano do Sul (FATEC – SCS)</a:t>
            </a:r>
          </a:p>
          <a:p>
            <a:pPr marL="274320" indent="-274320">
              <a:lnSpc>
                <a:spcPct val="150000"/>
              </a:lnSpc>
              <a:buClr>
                <a:schemeClr val="accent3"/>
              </a:buClr>
              <a:buFont typeface="Wingdings 2"/>
              <a:buChar char=""/>
              <a:defRPr/>
            </a:pPr>
            <a:r>
              <a:rPr lang="pt-BR" altLang="pt-BR" b="1" dirty="0">
                <a:latin typeface="+mj-lt"/>
              </a:rPr>
              <a:t>Professor na Faculdade de Tecnologia de Guarulhos (FATEC – GRU)</a:t>
            </a:r>
          </a:p>
          <a:p>
            <a:pPr marL="274320" indent="-274320">
              <a:lnSpc>
                <a:spcPct val="150000"/>
              </a:lnSpc>
              <a:buClr>
                <a:schemeClr val="accent3"/>
              </a:buClr>
              <a:buFont typeface="Wingdings 2"/>
              <a:buChar char=""/>
              <a:defRPr/>
            </a:pPr>
            <a:r>
              <a:rPr lang="pt-BR" altLang="pt-BR" b="1" dirty="0">
                <a:latin typeface="+mj-lt"/>
              </a:rPr>
              <a:t>Professor da Faculdade IMPACTA (FIT)</a:t>
            </a:r>
            <a:endParaRPr lang="pt-BR" b="1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7FFF86-FB9F-4688-A3F4-4DFEA53D687C}"/>
              </a:ext>
            </a:extLst>
          </p:cNvPr>
          <p:cNvSpPr txBox="1">
            <a:spLocks/>
          </p:cNvSpPr>
          <p:nvPr/>
        </p:nvSpPr>
        <p:spPr>
          <a:xfrm>
            <a:off x="2421467" y="1250457"/>
            <a:ext cx="6937022" cy="30167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/>
              <a:t>Nome?</a:t>
            </a:r>
          </a:p>
          <a:p>
            <a:r>
              <a:rPr lang="pt-BR" sz="3600"/>
              <a:t>Idade? Eu tenho 18.....</a:t>
            </a:r>
          </a:p>
          <a:p>
            <a:r>
              <a:rPr lang="pt-BR" sz="3600"/>
              <a:t>Onde mora?</a:t>
            </a:r>
          </a:p>
          <a:p>
            <a:r>
              <a:rPr lang="pt-BR" sz="3600"/>
              <a:t>O que estudou antes?</a:t>
            </a:r>
          </a:p>
          <a:p>
            <a:r>
              <a:rPr lang="pt-BR" sz="3600"/>
              <a:t>Se trabalha? Com que trabalha?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73227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7205C8B-C8EA-43A3-9905-29B901AB9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109374"/>
              </p:ext>
            </p:extLst>
          </p:nvPr>
        </p:nvGraphicFramePr>
        <p:xfrm>
          <a:off x="2216978" y="204130"/>
          <a:ext cx="7828169" cy="68214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0048">
                  <a:extLst>
                    <a:ext uri="{9D8B030D-6E8A-4147-A177-3AD203B41FA5}">
                      <a16:colId xmlns:a16="http://schemas.microsoft.com/office/drawing/2014/main" val="3177076158"/>
                    </a:ext>
                  </a:extLst>
                </a:gridCol>
                <a:gridCol w="6838121">
                  <a:extLst>
                    <a:ext uri="{9D8B030D-6E8A-4147-A177-3AD203B41FA5}">
                      <a16:colId xmlns:a16="http://schemas.microsoft.com/office/drawing/2014/main" val="4285514373"/>
                    </a:ext>
                  </a:extLst>
                </a:gridCol>
              </a:tblGrid>
              <a:tr h="18494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>
                          <a:effectLst/>
                        </a:rPr>
                        <a:t>Plano de aula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7382858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>
                          <a:effectLst/>
                        </a:rPr>
                        <a:t>Semana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>
                          <a:effectLst/>
                        </a:rPr>
                        <a:t>Conteúdo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220110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>
                          <a:effectLst/>
                        </a:rPr>
                        <a:t>1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>
                          <a:effectLst/>
                        </a:rPr>
                        <a:t>Apresentação da disciplina, critérios de avaliação, bibliografia. 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316050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>
                          <a:effectLst/>
                        </a:rPr>
                        <a:t>Introdução à Elétrica e Lei de Ohms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74959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Meios físicos de transmissão de sinais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316607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Eletrodutos, calhas e piso elevado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103400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Cabeamento metálico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403341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Projeto de Infraestrutura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272341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>
                          <a:effectLst/>
                        </a:rPr>
                        <a:t>Cabeamento Estruturado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540791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Projeto de Infraestrutura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085129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Avaliação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306606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Fibra óptica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829919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Interligação de equipamentos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325381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>
                          <a:effectLst/>
                        </a:rPr>
                        <a:t>PLC 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823723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>
                          <a:effectLst/>
                        </a:rPr>
                        <a:t>Redes Convergentes e comunicações unificadas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156776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>
                          <a:effectLst/>
                        </a:rPr>
                        <a:t>Conceitos de Telefonia e </a:t>
                      </a:r>
                      <a:r>
                        <a:rPr lang="pt-BR" sz="2000" dirty="0" err="1">
                          <a:effectLst/>
                        </a:rPr>
                        <a:t>Pabx</a:t>
                      </a:r>
                      <a:endParaRPr lang="pt-BR" sz="2000" dirty="0">
                        <a:effectLst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447302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>
                          <a:effectLst/>
                        </a:rPr>
                        <a:t>Projeto Servidor VOIP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404537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Redes WIFI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115068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Projeto Servidor VOIP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404452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>
                          <a:effectLst/>
                        </a:rPr>
                        <a:t>Avaliação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261694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>
                          <a:effectLst/>
                        </a:rPr>
                        <a:t>Vista de Prova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199346"/>
                  </a:ext>
                </a:extLst>
              </a:tr>
              <a:tr h="1178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pt-BR" sz="2000" dirty="0">
                          <a:effectLst/>
                        </a:rPr>
                        <a:t>Avaliação substitutiva</a:t>
                      </a:r>
                      <a:endParaRPr lang="pt-BR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09" marR="329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360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317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3079D62-7747-45E1-9B47-1614B11D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122"/>
            <a:ext cx="10515600" cy="54348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Bibliografia básica</a:t>
            </a:r>
          </a:p>
          <a:p>
            <a:r>
              <a:rPr lang="pt-BR" dirty="0"/>
              <a:t> OLIVIERO, Andrew; WOODWARD, Bill. </a:t>
            </a:r>
            <a:r>
              <a:rPr lang="pt-BR" dirty="0" err="1"/>
              <a:t>Cabling</a:t>
            </a:r>
            <a:r>
              <a:rPr lang="pt-BR" dirty="0"/>
              <a:t>: The Complete </a:t>
            </a:r>
            <a:r>
              <a:rPr lang="pt-BR" dirty="0" err="1"/>
              <a:t>Guide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Copper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Fiber-Optic</a:t>
            </a:r>
            <a:r>
              <a:rPr lang="pt-BR" dirty="0"/>
              <a:t> Networking. 4.ed. </a:t>
            </a:r>
            <a:r>
              <a:rPr lang="pt-BR" dirty="0" err="1"/>
              <a:t>Sybex</a:t>
            </a:r>
            <a:r>
              <a:rPr lang="pt-BR" dirty="0"/>
              <a:t>, 2010. </a:t>
            </a:r>
          </a:p>
          <a:p>
            <a:r>
              <a:rPr lang="pt-BR" dirty="0"/>
              <a:t>SHIMONSKI, Robert J.; STEINER, Richard; SHEEDY, Sean M. Cabeamento de Rede. R J: LTC, 2010. </a:t>
            </a:r>
          </a:p>
          <a:p>
            <a:r>
              <a:rPr lang="pt-BR" dirty="0"/>
              <a:t>VACCA, John R. </a:t>
            </a:r>
            <a:r>
              <a:rPr lang="pt-BR" dirty="0" err="1"/>
              <a:t>Guide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Wireless Network Security. Springer, 2006. </a:t>
            </a:r>
          </a:p>
          <a:p>
            <a:pPr marL="0" indent="0">
              <a:buNone/>
            </a:pPr>
            <a:r>
              <a:rPr lang="pt-BR" b="1" dirty="0"/>
              <a:t>Bibliografia complementar </a:t>
            </a:r>
          </a:p>
          <a:p>
            <a:r>
              <a:rPr lang="pt-BR" dirty="0"/>
              <a:t>MARIN, Paulo Sergio. Cabeamento Estruturado – desvendando cada passo do projeto à instalação. S P: Érica, 2004. </a:t>
            </a:r>
          </a:p>
          <a:p>
            <a:r>
              <a:rPr lang="pt-BR" dirty="0"/>
              <a:t>PINHEIRO, Jose Maurício dos S. Guia Completo de Cabeamento de Redes. Rio de Janeiro: Campus, 2003. </a:t>
            </a:r>
          </a:p>
          <a:p>
            <a:r>
              <a:rPr lang="pt-BR" dirty="0"/>
              <a:t>ZHENG, </a:t>
            </a:r>
            <a:r>
              <a:rPr lang="pt-BR" dirty="0" err="1"/>
              <a:t>Pei</a:t>
            </a:r>
            <a:r>
              <a:rPr lang="pt-BR" dirty="0"/>
              <a:t> et al. Wireless Networking Complete. Morgan Kaufmann, 2009.</a:t>
            </a:r>
          </a:p>
        </p:txBody>
      </p:sp>
    </p:spTree>
    <p:extLst>
      <p:ext uri="{BB962C8B-B14F-4D97-AF65-F5344CB8AC3E}">
        <p14:creationId xmlns:p14="http://schemas.microsoft.com/office/powerpoint/2010/main" val="3571924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20F04-479C-48AA-9641-1702F9A0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26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Critérios de 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5BC563-A6DA-4338-B64B-42D538DF2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689"/>
            <a:ext cx="10515600" cy="47432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Fórmula : MAX(N1+N2, MAX(N1+N3,N2+N3))/2 </a:t>
            </a:r>
          </a:p>
          <a:p>
            <a:pPr marL="0" indent="0">
              <a:buNone/>
            </a:pPr>
            <a:r>
              <a:rPr lang="pt-BR" dirty="0"/>
              <a:t>	3 avaliações, duas melhores notas </a:t>
            </a:r>
          </a:p>
          <a:p>
            <a:pPr marL="0" indent="0">
              <a:buNone/>
            </a:pPr>
            <a:endParaRPr lang="pt-BR" dirty="0"/>
          </a:p>
          <a:p>
            <a:pPr marL="914400" lvl="2" indent="0">
              <a:buNone/>
            </a:pPr>
            <a:r>
              <a:rPr lang="pt-BR" sz="2800" dirty="0"/>
              <a:t>N1 – Prova N1</a:t>
            </a:r>
          </a:p>
          <a:p>
            <a:pPr marL="914400" lvl="2" indent="0">
              <a:buNone/>
            </a:pPr>
            <a:r>
              <a:rPr lang="pt-BR" sz="2800" dirty="0"/>
              <a:t>	Avaliação + Atividades de aula + Projeto de Infraestrutura</a:t>
            </a:r>
          </a:p>
          <a:p>
            <a:pPr marL="914400" lvl="2" indent="0">
              <a:buNone/>
            </a:pPr>
            <a:endParaRPr lang="pt-BR" sz="2800" dirty="0"/>
          </a:p>
          <a:p>
            <a:pPr marL="914400" lvl="2" indent="0">
              <a:buNone/>
            </a:pPr>
            <a:r>
              <a:rPr lang="pt-BR" sz="2800" dirty="0"/>
              <a:t>N2 – Prova N2</a:t>
            </a:r>
          </a:p>
          <a:p>
            <a:pPr marL="914400" lvl="2" indent="0">
              <a:buNone/>
            </a:pPr>
            <a:r>
              <a:rPr lang="pt-BR" sz="2800" dirty="0"/>
              <a:t>	Avaliação + Projeto VOIP PABX</a:t>
            </a:r>
          </a:p>
          <a:p>
            <a:pPr marL="914400" lvl="2" indent="0">
              <a:buNone/>
            </a:pPr>
            <a:r>
              <a:rPr lang="pt-BR" sz="2800" dirty="0"/>
              <a:t>	</a:t>
            </a:r>
          </a:p>
          <a:p>
            <a:pPr marL="914400" lvl="2" indent="0">
              <a:buNone/>
            </a:pPr>
            <a:endParaRPr lang="pt-BR" sz="2800" dirty="0"/>
          </a:p>
          <a:p>
            <a:pPr marL="914400" lvl="2" indent="0">
              <a:buNone/>
            </a:pPr>
            <a:r>
              <a:rPr lang="pt-BR" sz="2800" dirty="0"/>
              <a:t>N3 – Prova N3</a:t>
            </a:r>
          </a:p>
          <a:p>
            <a:pPr marL="914400" lvl="2" indent="0">
              <a:buNone/>
            </a:pPr>
            <a:r>
              <a:rPr lang="pt-BR" sz="2800" dirty="0"/>
              <a:t>	Avaliação Substitutiva (aberta a qualquer aluno)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7049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53BA9-6AA2-4B9A-94E9-D1BB6F3E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Recados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EF21D3-D1F4-44E7-977E-77C94791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4400" dirty="0"/>
              <a:t>Chamada</a:t>
            </a:r>
          </a:p>
          <a:p>
            <a:pPr lvl="1"/>
            <a:r>
              <a:rPr lang="pt-BR" sz="4000" dirty="0"/>
              <a:t>Ingresso na aula</a:t>
            </a:r>
          </a:p>
          <a:p>
            <a:pPr lvl="1"/>
            <a:r>
              <a:rPr lang="pt-BR" sz="4000" dirty="0"/>
              <a:t>Horário da chamada</a:t>
            </a:r>
          </a:p>
          <a:p>
            <a:r>
              <a:rPr lang="pt-BR" sz="4400" dirty="0"/>
              <a:t>Atividades (Tarefas)</a:t>
            </a:r>
          </a:p>
          <a:p>
            <a:r>
              <a:rPr lang="pt-BR" sz="4400" dirty="0"/>
              <a:t>Microfone</a:t>
            </a:r>
          </a:p>
          <a:p>
            <a:r>
              <a:rPr lang="pt-BR" sz="4400" dirty="0"/>
              <a:t>Câmera</a:t>
            </a:r>
          </a:p>
          <a:p>
            <a:r>
              <a:rPr lang="pt-BR" sz="4400" dirty="0"/>
              <a:t>Gravação da aula</a:t>
            </a:r>
          </a:p>
          <a:p>
            <a:r>
              <a:rPr lang="pt-BR" sz="4400" dirty="0"/>
              <a:t>Participação....Muita participação !!!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48348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E343EADE1F944FB1DE5D179F821929" ma:contentTypeVersion="3" ma:contentTypeDescription="Create a new document." ma:contentTypeScope="" ma:versionID="0e2018874cebfd6103c24e804e0f9f0d">
  <xsd:schema xmlns:xsd="http://www.w3.org/2001/XMLSchema" xmlns:xs="http://www.w3.org/2001/XMLSchema" xmlns:p="http://schemas.microsoft.com/office/2006/metadata/properties" xmlns:ns2="1ef0a13e-fbd0-44e8-9ddc-c9c48fc3e6c0" targetNamespace="http://schemas.microsoft.com/office/2006/metadata/properties" ma:root="true" ma:fieldsID="4669161d4150c0a98025816590fd8233" ns2:_="">
    <xsd:import namespace="1ef0a13e-fbd0-44e8-9ddc-c9c48fc3e6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f0a13e-fbd0-44e8-9ddc-c9c48fc3e6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AB28C0-3C55-4276-85BC-19252ECB1B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3348C8-6A28-495B-9402-1E53A9D2BB90}"/>
</file>

<file path=customXml/itemProps3.xml><?xml version="1.0" encoding="utf-8"?>
<ds:datastoreItem xmlns:ds="http://schemas.openxmlformats.org/officeDocument/2006/customXml" ds:itemID="{A2643153-3FAB-4560-94E9-A3B4475CDF46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84649742-55bb-4ee1-8988-ee4ac85e52ea"/>
    <ds:schemaRef ds:uri="http://purl.org/dc/elements/1.1/"/>
    <ds:schemaRef ds:uri="http://schemas.microsoft.com/office/2006/metadata/properties"/>
    <ds:schemaRef ds:uri="1f7dbd6e-a37a-4467-bcc9-3d30d35744e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3562</TotalTime>
  <Words>588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 2</vt:lpstr>
      <vt:lpstr>Tema do Office</vt:lpstr>
      <vt:lpstr>Infraestrutura Física em Redes de Computadores </vt:lpstr>
      <vt:lpstr>Apresentação do PowerPoint</vt:lpstr>
      <vt:lpstr>Horários de aula</vt:lpstr>
      <vt:lpstr>Cursos de Tecnologia</vt:lpstr>
      <vt:lpstr>Cursos de Tecnologia</vt:lpstr>
      <vt:lpstr>Curriculum</vt:lpstr>
      <vt:lpstr>Apresentação do PowerPoint</vt:lpstr>
      <vt:lpstr>Apresentação do PowerPoint</vt:lpstr>
      <vt:lpstr>Apresentação do PowerPoint</vt:lpstr>
      <vt:lpstr>Critérios de Avaliação</vt:lpstr>
      <vt:lpstr>Recados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AMORIM MOTTA CARVALHO</dc:creator>
  <cp:lastModifiedBy>RODRIGO AMORIM MOTTA CARVALHO</cp:lastModifiedBy>
  <cp:revision>6</cp:revision>
  <dcterms:created xsi:type="dcterms:W3CDTF">2021-07-19T20:03:12Z</dcterms:created>
  <dcterms:modified xsi:type="dcterms:W3CDTF">2022-02-09T01:51:43Z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0x010100AAE343EADE1F944FB1DE5D179F821929</vt:lpwstr>
  </property>
</Properties>
</file>