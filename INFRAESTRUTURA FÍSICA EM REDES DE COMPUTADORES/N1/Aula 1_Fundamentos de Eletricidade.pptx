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  <p:sldMasterId id="2147483666" r:id="rId2"/>
    <p:sldMasterId id="2147483671" r:id="rId3"/>
  </p:sldMasterIdLst>
  <p:notesMasterIdLst>
    <p:notesMasterId r:id="rId44"/>
  </p:notesMasterIdLst>
  <p:sldIdLst>
    <p:sldId id="256" r:id="rId4"/>
    <p:sldId id="294" r:id="rId5"/>
    <p:sldId id="295" r:id="rId6"/>
    <p:sldId id="296" r:id="rId7"/>
    <p:sldId id="297" r:id="rId8"/>
    <p:sldId id="259" r:id="rId9"/>
    <p:sldId id="258" r:id="rId10"/>
    <p:sldId id="260" r:id="rId11"/>
    <p:sldId id="263" r:id="rId12"/>
    <p:sldId id="261" r:id="rId13"/>
    <p:sldId id="262" r:id="rId14"/>
    <p:sldId id="264" r:id="rId15"/>
    <p:sldId id="265" r:id="rId16"/>
    <p:sldId id="267" r:id="rId17"/>
    <p:sldId id="268" r:id="rId18"/>
    <p:sldId id="270" r:id="rId19"/>
    <p:sldId id="269" r:id="rId20"/>
    <p:sldId id="271" r:id="rId21"/>
    <p:sldId id="272" r:id="rId22"/>
    <p:sldId id="284" r:id="rId23"/>
    <p:sldId id="274" r:id="rId24"/>
    <p:sldId id="285" r:id="rId25"/>
    <p:sldId id="273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7" r:id="rId36"/>
    <p:sldId id="288" r:id="rId37"/>
    <p:sldId id="289" r:id="rId38"/>
    <p:sldId id="290" r:id="rId39"/>
    <p:sldId id="291" r:id="rId40"/>
    <p:sldId id="266" r:id="rId41"/>
    <p:sldId id="292" r:id="rId42"/>
    <p:sldId id="293" r:id="rId4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59" autoAdjust="0"/>
    <p:restoredTop sz="95118" autoAdjust="0"/>
  </p:normalViewPr>
  <p:slideViewPr>
    <p:cSldViewPr>
      <p:cViewPr>
        <p:scale>
          <a:sx n="90" d="100"/>
          <a:sy n="90" d="100"/>
        </p:scale>
        <p:origin x="960" y="-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heme" Target="theme/theme1.xml"/><Relationship Id="rId50" Type="http://schemas.openxmlformats.org/officeDocument/2006/relationships/customXml" Target="../customXml/item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customXml" Target="../customXml/item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customXml" Target="../customXml/item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F4D7D-F69F-42C2-8BCD-9BDC75821E55}" type="datetimeFigureOut">
              <a:rPr lang="pt-BR" smtClean="0"/>
              <a:pPr/>
              <a:t>16/02/2022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A23FBA-4F1B-4974-9707-7B35AEF877C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>
            <a:extLst>
              <a:ext uri="{FF2B5EF4-FFF2-40B4-BE49-F238E27FC236}">
                <a16:creationId xmlns:a16="http://schemas.microsoft.com/office/drawing/2014/main" id="{6A388449-80E9-4DD4-B8F6-9C4B8B70DC7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63CC241-E52E-489E-879F-B906949DB190}" type="slidenum">
              <a:rPr lang="pt-BR" altLang="pt-BR" sz="1400"/>
              <a:pPr>
                <a:spcBef>
                  <a:spcPct val="0"/>
                </a:spcBef>
              </a:pPr>
              <a:t>33</a:t>
            </a:fld>
            <a:endParaRPr lang="pt-BR" altLang="pt-BR" sz="1400"/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D288F00D-81DB-4119-94C6-27DA2514A4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6" name="Text Box 2">
            <a:extLst>
              <a:ext uri="{FF2B5EF4-FFF2-40B4-BE49-F238E27FC236}">
                <a16:creationId xmlns:a16="http://schemas.microsoft.com/office/drawing/2014/main" id="{9B4B5167-35C9-431D-A272-0310766D4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>
            <a:extLst>
              <a:ext uri="{FF2B5EF4-FFF2-40B4-BE49-F238E27FC236}">
                <a16:creationId xmlns:a16="http://schemas.microsoft.com/office/drawing/2014/main" id="{4548F230-9FD3-42D3-B5A5-06840A202C1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148360A-1F97-431B-9047-3AE5823171A5}" type="slidenum">
              <a:rPr lang="pt-BR" altLang="pt-BR" sz="1400"/>
              <a:pPr>
                <a:spcBef>
                  <a:spcPct val="0"/>
                </a:spcBef>
              </a:pPr>
              <a:t>34</a:t>
            </a:fld>
            <a:endParaRPr lang="pt-BR" altLang="pt-BR" sz="1400"/>
          </a:p>
        </p:txBody>
      </p:sp>
      <p:sp>
        <p:nvSpPr>
          <p:cNvPr id="25603" name="Rectangle 1">
            <a:extLst>
              <a:ext uri="{FF2B5EF4-FFF2-40B4-BE49-F238E27FC236}">
                <a16:creationId xmlns:a16="http://schemas.microsoft.com/office/drawing/2014/main" id="{45BF599D-EB00-4E5F-8C0A-6964E5FB98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4" name="Text Box 2">
            <a:extLst>
              <a:ext uri="{FF2B5EF4-FFF2-40B4-BE49-F238E27FC236}">
                <a16:creationId xmlns:a16="http://schemas.microsoft.com/office/drawing/2014/main" id="{BE0BA16C-CF7A-401F-8712-FDCEAB460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>
            <a:extLst>
              <a:ext uri="{FF2B5EF4-FFF2-40B4-BE49-F238E27FC236}">
                <a16:creationId xmlns:a16="http://schemas.microsoft.com/office/drawing/2014/main" id="{331D7693-0A61-4A4F-A8C5-9092862E19B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D8C7A3E-D76F-4F34-A891-B58548244D38}" type="slidenum">
              <a:rPr lang="pt-BR" altLang="pt-BR" sz="1400"/>
              <a:pPr>
                <a:spcBef>
                  <a:spcPct val="0"/>
                </a:spcBef>
              </a:pPr>
              <a:t>35</a:t>
            </a:fld>
            <a:endParaRPr lang="pt-BR" altLang="pt-BR" sz="1400"/>
          </a:p>
        </p:txBody>
      </p:sp>
      <p:sp>
        <p:nvSpPr>
          <p:cNvPr id="27651" name="Rectangle 1">
            <a:extLst>
              <a:ext uri="{FF2B5EF4-FFF2-40B4-BE49-F238E27FC236}">
                <a16:creationId xmlns:a16="http://schemas.microsoft.com/office/drawing/2014/main" id="{9AA1442E-E016-4AEF-9209-9603BE4977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Text Box 2">
            <a:extLst>
              <a:ext uri="{FF2B5EF4-FFF2-40B4-BE49-F238E27FC236}">
                <a16:creationId xmlns:a16="http://schemas.microsoft.com/office/drawing/2014/main" id="{69A32A35-790D-49B0-AC65-F9D9E514C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>
            <a:extLst>
              <a:ext uri="{FF2B5EF4-FFF2-40B4-BE49-F238E27FC236}">
                <a16:creationId xmlns:a16="http://schemas.microsoft.com/office/drawing/2014/main" id="{AA828755-3719-499B-A016-1DADB3DD2FE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89B26E4-8FAA-407D-BCF9-0E626A10A63A}" type="slidenum">
              <a:rPr lang="pt-BR" altLang="pt-BR" sz="1400"/>
              <a:pPr>
                <a:spcBef>
                  <a:spcPct val="0"/>
                </a:spcBef>
              </a:pPr>
              <a:t>36</a:t>
            </a:fld>
            <a:endParaRPr lang="pt-BR" altLang="pt-BR" sz="1400"/>
          </a:p>
        </p:txBody>
      </p:sp>
      <p:sp>
        <p:nvSpPr>
          <p:cNvPr id="29699" name="Rectangle 1">
            <a:extLst>
              <a:ext uri="{FF2B5EF4-FFF2-40B4-BE49-F238E27FC236}">
                <a16:creationId xmlns:a16="http://schemas.microsoft.com/office/drawing/2014/main" id="{AB8D28AC-A9C6-4F0D-B7C0-8F673D4304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700" name="Text Box 2">
            <a:extLst>
              <a:ext uri="{FF2B5EF4-FFF2-40B4-BE49-F238E27FC236}">
                <a16:creationId xmlns:a16="http://schemas.microsoft.com/office/drawing/2014/main" id="{103E8C77-F2DC-4AE4-816B-BB0304230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>
            <a:extLst>
              <a:ext uri="{FF2B5EF4-FFF2-40B4-BE49-F238E27FC236}">
                <a16:creationId xmlns:a16="http://schemas.microsoft.com/office/drawing/2014/main" id="{7460D840-0D96-498A-831A-383A6703BE2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5EEE732-78CE-432A-A840-C0FA49477C88}" type="slidenum">
              <a:rPr lang="pt-BR" altLang="pt-BR" sz="1400"/>
              <a:pPr>
                <a:spcBef>
                  <a:spcPct val="0"/>
                </a:spcBef>
              </a:pPr>
              <a:t>37</a:t>
            </a:fld>
            <a:endParaRPr lang="pt-BR" altLang="pt-BR" sz="1400"/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3E2B7F6B-CA49-4155-989F-451D345C3D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Text Box 2">
            <a:extLst>
              <a:ext uri="{FF2B5EF4-FFF2-40B4-BE49-F238E27FC236}">
                <a16:creationId xmlns:a16="http://schemas.microsoft.com/office/drawing/2014/main" id="{749D2500-F416-4C68-8158-095C5DD06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6">
            <a:extLst>
              <a:ext uri="{FF2B5EF4-FFF2-40B4-BE49-F238E27FC236}">
                <a16:creationId xmlns:a16="http://schemas.microsoft.com/office/drawing/2014/main" id="{FE9CDC7C-138B-4F92-81D5-928699CB4C4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A5E079D-AD57-4DC4-B4B7-EC28DF31B621}" type="slidenum">
              <a:rPr lang="pt-BR" altLang="pt-BR" sz="1400"/>
              <a:pPr>
                <a:spcBef>
                  <a:spcPct val="0"/>
                </a:spcBef>
              </a:pPr>
              <a:t>38</a:t>
            </a:fld>
            <a:endParaRPr lang="pt-BR" altLang="pt-BR" sz="1400"/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7F4323F1-BACF-4E2E-A014-01AF302AE1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Text Box 2">
            <a:extLst>
              <a:ext uri="{FF2B5EF4-FFF2-40B4-BE49-F238E27FC236}">
                <a16:creationId xmlns:a16="http://schemas.microsoft.com/office/drawing/2014/main" id="{31BB3E8C-2FD6-476D-9453-D2D67B092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">
            <a:extLst>
              <a:ext uri="{FF2B5EF4-FFF2-40B4-BE49-F238E27FC236}">
                <a16:creationId xmlns:a16="http://schemas.microsoft.com/office/drawing/2014/main" id="{56B3AB32-C27D-4ECB-A7C4-81AB00F69B1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D239907-3D0D-4929-AFE4-FB538EFD4D7C}" type="slidenum">
              <a:rPr lang="pt-BR" altLang="pt-BR" sz="1400"/>
              <a:pPr>
                <a:spcBef>
                  <a:spcPct val="0"/>
                </a:spcBef>
              </a:pPr>
              <a:t>39</a:t>
            </a:fld>
            <a:endParaRPr lang="pt-BR" altLang="pt-BR" sz="1400"/>
          </a:p>
        </p:txBody>
      </p:sp>
      <p:sp>
        <p:nvSpPr>
          <p:cNvPr id="35843" name="Rectangle 1">
            <a:extLst>
              <a:ext uri="{FF2B5EF4-FFF2-40B4-BE49-F238E27FC236}">
                <a16:creationId xmlns:a16="http://schemas.microsoft.com/office/drawing/2014/main" id="{3F0A897E-7384-4AE8-BE8C-F0A40775F0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4" name="Text Box 2">
            <a:extLst>
              <a:ext uri="{FF2B5EF4-FFF2-40B4-BE49-F238E27FC236}">
                <a16:creationId xmlns:a16="http://schemas.microsoft.com/office/drawing/2014/main" id="{18FDD584-9B95-482A-9ABC-4A177B172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>
            <a:extLst>
              <a:ext uri="{FF2B5EF4-FFF2-40B4-BE49-F238E27FC236}">
                <a16:creationId xmlns:a16="http://schemas.microsoft.com/office/drawing/2014/main" id="{BF4E9C98-D2F2-4A0A-A234-B706913DB4A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1A50C81-4AC3-4FD4-B3F2-6F4A46D6F390}" type="slidenum">
              <a:rPr lang="pt-BR" altLang="pt-BR" sz="1400"/>
              <a:pPr>
                <a:spcBef>
                  <a:spcPct val="0"/>
                </a:spcBef>
              </a:pPr>
              <a:t>40</a:t>
            </a:fld>
            <a:endParaRPr lang="pt-BR" altLang="pt-BR" sz="1400"/>
          </a:p>
        </p:txBody>
      </p:sp>
      <p:sp>
        <p:nvSpPr>
          <p:cNvPr id="37891" name="Rectangle 1">
            <a:extLst>
              <a:ext uri="{FF2B5EF4-FFF2-40B4-BE49-F238E27FC236}">
                <a16:creationId xmlns:a16="http://schemas.microsoft.com/office/drawing/2014/main" id="{47CC857E-F1AA-493D-85C8-1DA442399F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7892" name="Text Box 2">
            <a:extLst>
              <a:ext uri="{FF2B5EF4-FFF2-40B4-BE49-F238E27FC236}">
                <a16:creationId xmlns:a16="http://schemas.microsoft.com/office/drawing/2014/main" id="{333F0E8C-F722-4E2E-997A-3AC601729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ítulo 7"/>
          <p:cNvSpPr>
            <a:spLocks noGrp="1"/>
          </p:cNvSpPr>
          <p:nvPr>
            <p:ph type="ctrTitle" hasCustomPrompt="1"/>
          </p:nvPr>
        </p:nvSpPr>
        <p:spPr>
          <a:xfrm>
            <a:off x="755576" y="2204864"/>
            <a:ext cx="7488832" cy="1828800"/>
          </a:xfrm>
        </p:spPr>
        <p:txBody>
          <a:bodyPr anchor="b"/>
          <a:lstStyle>
            <a:lvl1pPr algn="ctr">
              <a:defRPr cap="all" baseline="0"/>
            </a:lvl1pPr>
          </a:lstStyle>
          <a:p>
            <a:r>
              <a:rPr kumimoji="0" lang="pt-BR" dirty="0"/>
              <a:t>Fundamentos de eletricidade</a:t>
            </a:r>
            <a:endParaRPr kumimoji="0" lang="en-US" dirty="0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err="1"/>
              <a:t>Interoperabilidade</a:t>
            </a:r>
            <a:endParaRPr lang="pt-BR" dirty="0"/>
          </a:p>
        </p:txBody>
      </p:sp>
      <p:sp>
        <p:nvSpPr>
          <p:cNvPr id="9" name="Subtítulo 8"/>
          <p:cNvSpPr>
            <a:spLocks noGrp="1"/>
          </p:cNvSpPr>
          <p:nvPr>
            <p:ph type="subTitle" idx="1" hasCustomPrompt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r">
              <a:buNone/>
              <a:defRPr sz="2600" b="1" baseline="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dirty="0" err="1"/>
              <a:t>Eletricidade</a:t>
            </a:r>
            <a:r>
              <a:rPr kumimoji="0" lang="en-US" dirty="0"/>
              <a:t> e </a:t>
            </a:r>
            <a:r>
              <a:rPr kumimoji="0" lang="en-US" dirty="0" err="1"/>
              <a:t>Magnetismo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609601" y="6248206"/>
            <a:ext cx="3170312" cy="365125"/>
          </a:xfrm>
        </p:spPr>
        <p:txBody>
          <a:bodyPr/>
          <a:lstStyle/>
          <a:p>
            <a:r>
              <a:rPr lang="pt-BR" noProof="1"/>
              <a:t>Fundamentos</a:t>
            </a:r>
            <a:r>
              <a:rPr lang="en-US" dirty="0"/>
              <a:t> de Telecomunicações</a:t>
            </a:r>
            <a:endParaRPr lang="pt-BR" dirty="0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>
              <a:defRPr sz="2400"/>
            </a:lvl1pPr>
          </a:lstStyle>
          <a:p>
            <a:pPr lvl="0" eaLnBrk="1" latinLnBrk="0" hangingPunct="1"/>
            <a:r>
              <a:rPr lang="pt-BR" dirty="0"/>
              <a:t>Clique para editar os estilos do texto mestre</a:t>
            </a:r>
          </a:p>
          <a:p>
            <a:pPr lvl="1" eaLnBrk="1" latinLnBrk="0" hangingPunct="1"/>
            <a:r>
              <a:rPr lang="pt-BR" dirty="0"/>
              <a:t>Segundo nível</a:t>
            </a:r>
          </a:p>
          <a:p>
            <a:pPr lvl="2" eaLnBrk="1" latinLnBrk="0" hangingPunct="1"/>
            <a:r>
              <a:rPr lang="pt-BR" dirty="0"/>
              <a:t>Terceiro nível</a:t>
            </a:r>
          </a:p>
          <a:p>
            <a:pPr lvl="3" eaLnBrk="1" latinLnBrk="0" hangingPunct="1"/>
            <a:r>
              <a:rPr lang="pt-BR" dirty="0"/>
              <a:t>Quarto nível</a:t>
            </a:r>
          </a:p>
          <a:p>
            <a:pPr lvl="4" eaLnBrk="1" latinLnBrk="0" hangingPunct="1"/>
            <a:r>
              <a:rPr lang="pt-BR" dirty="0"/>
              <a:t>Quinto nível</a:t>
            </a:r>
            <a:endParaRPr kumimoji="0" lang="en-US" dirty="0"/>
          </a:p>
        </p:txBody>
      </p:sp>
      <p:sp>
        <p:nvSpPr>
          <p:cNvPr id="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7956376" y="6237312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5104B0-60A0-4438-9746-CDC1620B0CBB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11" name="Conector reto 10"/>
          <p:cNvCxnSpPr/>
          <p:nvPr userDrawn="1"/>
        </p:nvCxnSpPr>
        <p:spPr>
          <a:xfrm>
            <a:off x="611560" y="6165304"/>
            <a:ext cx="820891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59E2B3E3-FBB5-40DB-8D4F-3F664A7A5E6C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E23B952-52F1-4076-8825-0F9B5EC1CAC7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7E79403-3FCB-4F8D-AFD3-D046705C835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1C9410-9312-4662-BE73-B7BE06677DB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23951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6481" y="273629"/>
            <a:ext cx="8226720" cy="114348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50C06CE-2D09-4102-A32C-C76BE27941E8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9E1CEE-FC2E-4147-8074-D094EEE6D637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7E3A37-66D4-41BE-B7A5-8015C0141B1B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FDA8DD-C77B-443B-A8B1-25B87FF661B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1499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D288A-5DB7-4A2B-9029-14CEF7AE7BD7}" type="datetimeFigureOut">
              <a:rPr lang="pt-BR" smtClean="0"/>
              <a:t>16/02/2022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ADE18-0432-4177-8A96-1173E07A02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7351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AF1AB-7278-4369-8014-7496C0EF7650}" type="datetimeFigureOut">
              <a:rPr lang="pt-BR" smtClean="0"/>
              <a:pPr/>
              <a:t>16/02/2022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D86B-7A18-4906-B7A0-CD35074016D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D22AF1AB-7278-4369-8014-7496C0EF7650}" type="datetimeFigureOut">
              <a:rPr lang="pt-BR" smtClean="0"/>
              <a:pPr/>
              <a:t>16/02/2022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1DD86B-7A18-4906-B7A0-CD35074016D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>
            <a:lvl1pPr>
              <a:defRPr sz="2400"/>
            </a:lvl1pPr>
          </a:lstStyle>
          <a:p>
            <a:pPr lvl="0" eaLnBrk="1" latinLnBrk="0" hangingPunct="1"/>
            <a:r>
              <a:rPr lang="pt-BR" dirty="0"/>
              <a:t>Clique para editar os estilos do texto mestre</a:t>
            </a:r>
          </a:p>
          <a:p>
            <a:pPr lvl="1" eaLnBrk="1" latinLnBrk="0" hangingPunct="1"/>
            <a:r>
              <a:rPr lang="pt-BR" dirty="0"/>
              <a:t>Segundo nível</a:t>
            </a:r>
          </a:p>
          <a:p>
            <a:pPr lvl="2" eaLnBrk="1" latinLnBrk="0" hangingPunct="1"/>
            <a:r>
              <a:rPr lang="pt-BR" dirty="0"/>
              <a:t>Terceiro nível</a:t>
            </a:r>
          </a:p>
          <a:p>
            <a:pPr lvl="3" eaLnBrk="1" latinLnBrk="0" hangingPunct="1"/>
            <a:r>
              <a:rPr lang="pt-BR" dirty="0"/>
              <a:t>Quarto nível</a:t>
            </a:r>
          </a:p>
          <a:p>
            <a:pPr lvl="4" eaLnBrk="1" latinLnBrk="0" hangingPunct="1"/>
            <a:r>
              <a:rPr lang="pt-BR" dirty="0"/>
              <a:t>Quinto nível</a:t>
            </a:r>
            <a:endParaRPr kumimoji="0" lang="en-US" dirty="0"/>
          </a:p>
        </p:txBody>
      </p:sp>
      <p:sp>
        <p:nvSpPr>
          <p:cNvPr id="13" name="Espaço Reservado para Rodapé 4"/>
          <p:cNvSpPr txBox="1">
            <a:spLocks/>
          </p:cNvSpPr>
          <p:nvPr userDrawn="1"/>
        </p:nvSpPr>
        <p:spPr>
          <a:xfrm>
            <a:off x="609601" y="6248206"/>
            <a:ext cx="3170312" cy="365125"/>
          </a:xfrm>
          <a:prstGeom prst="rect">
            <a:avLst/>
          </a:prstGeom>
        </p:spPr>
        <p:txBody>
          <a:bodyPr vert="horz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Fundamentos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Eletricidade</a:t>
            </a: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Espaço Reservado para Número de Slide 28"/>
          <p:cNvSpPr txBox="1">
            <a:spLocks/>
          </p:cNvSpPr>
          <p:nvPr userDrawn="1"/>
        </p:nvSpPr>
        <p:spPr>
          <a:xfrm>
            <a:off x="7956376" y="6237312"/>
            <a:ext cx="838200" cy="381000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5104B0-60A0-4438-9746-CDC1620B0CBB}" type="slidenum">
              <a:rPr kumimoji="0" lang="pt-BR" sz="14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B8A7360-C159-46B5-9594-E4B4C1C4BFA9}" type="datetime1">
              <a:rPr lang="pt-BR" smtClean="0"/>
              <a:pPr/>
              <a:t>16/02/2022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Fundamentos de Telecomunicações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105104B0-60A0-4438-9746-CDC1620B0CB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  <p:sldLayoutId id="2147483677" r:id="rId4"/>
    <p:sldLayoutId id="2147483678" r:id="rId5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AF1AB-7278-4369-8014-7496C0EF7650}" type="datetimeFigureOut">
              <a:rPr lang="pt-BR" smtClean="0"/>
              <a:pPr/>
              <a:t>16/02/2022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DD86B-7A18-4906-B7A0-CD35074016D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B8A7360-C159-46B5-9594-E4B4C1C4BFA9}" type="datetime1">
              <a:rPr lang="pt-BR" smtClean="0"/>
              <a:pPr/>
              <a:t>16/02/2022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Fundamentos de Telecomunicações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105104B0-60A0-4438-9746-CDC1620B0CB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5" r:id="rId2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shutterstock.com/subscribe?clicksrc=inline_thumb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corangeti.blogspot.com/2014/08/formas-de-geracao-de-energia-como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hyperlink" Target="http://www.alterima.com.br/index.asp?InCdSecao=34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://novaescola.org.br/fundamental-1/como-energia-eletrica-chega-nossas-casas-690661.shtml?page=1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www.gta.ufrj.br/ensino/eel879/trabalhos_vf_2008_2/tulio/Introducao.htm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gif"/><Relationship Id="rId5" Type="http://schemas.openxmlformats.org/officeDocument/2006/relationships/hyperlink" Target="file:///C:/Users/xico/Desktop/SImula&#231;oes%20eletricidade/charges-and-fields_pt_BR.jar" TargetMode="External"/><Relationship Id="rId4" Type="http://schemas.openxmlformats.org/officeDocument/2006/relationships/image" Target="../media/image2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pt.wikipedia.org/wiki/Ohm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file:///C:/Users/xico/Desktop/SImula&#231;oes%20eletricidade/radio-waves_pt_BR.jar" TargetMode="External"/><Relationship Id="rId3" Type="http://schemas.openxmlformats.org/officeDocument/2006/relationships/hyperlink" Target="file:///C:/Users/xico/Desktop/SImula&#231;oes%20eletricidade/capacitor-lab_pt_BR.jar" TargetMode="External"/><Relationship Id="rId7" Type="http://schemas.openxmlformats.org/officeDocument/2006/relationships/hyperlink" Target="file:///C:/Users/xico/Desktop/SImula&#231;oes%20eletricidade/circuit-construction-kit-dc_pt_BR.jar" TargetMode="External"/><Relationship Id="rId2" Type="http://schemas.openxmlformats.org/officeDocument/2006/relationships/hyperlink" Target="file:///C:/Users/xico/Desktop/SImula&#231;oes%20eletricidade/charges-and-fields_pt_BR.ja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file:///C:/Users/xico/Desktop/SImula&#231;oes%20eletricidade/ohms-law_pt_BR.jar" TargetMode="External"/><Relationship Id="rId5" Type="http://schemas.openxmlformats.org/officeDocument/2006/relationships/hyperlink" Target="file:///C:/Users/xico/Desktop/SImula&#231;oes%20eletricidade/conductivity_pt_BR.jar" TargetMode="External"/><Relationship Id="rId4" Type="http://schemas.openxmlformats.org/officeDocument/2006/relationships/hyperlink" Target="file:///C:/Users/xico/Desktop/SImula&#231;oes%20eletricidade/resistance-in-a-wire_pt_BR.jar" TargetMode="External"/><Relationship Id="rId9" Type="http://schemas.openxmlformats.org/officeDocument/2006/relationships/hyperlink" Target="http://phet.colorado.edu/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Fundamentos</a:t>
            </a:r>
            <a:r>
              <a:rPr lang="en-US" dirty="0"/>
              <a:t> de </a:t>
            </a:r>
            <a:r>
              <a:rPr lang="en-US" dirty="0" err="1"/>
              <a:t>eletricidade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IFRC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78381"/>
            <a:ext cx="7886700" cy="745589"/>
          </a:xfrm>
        </p:spPr>
        <p:txBody>
          <a:bodyPr>
            <a:normAutofit fontScale="90000"/>
          </a:bodyPr>
          <a:lstStyle/>
          <a:p>
            <a:r>
              <a:rPr lang="pt-BR" dirty="0"/>
              <a:t>Geração de energia elétrica: </a:t>
            </a:r>
          </a:p>
        </p:txBody>
      </p:sp>
      <p:pic>
        <p:nvPicPr>
          <p:cNvPr id="4" name="Imagem 3" descr="http://thumb1.shutterstock.com/display_pic_with_logo/1556831/306617090/stock-vector-power-generation-set-icons-306617090.jpg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973" y="1919225"/>
            <a:ext cx="6600054" cy="45554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0290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1498732"/>
            <a:ext cx="7886700" cy="1347980"/>
          </a:xfrm>
        </p:spPr>
        <p:txBody>
          <a:bodyPr>
            <a:noAutofit/>
          </a:bodyPr>
          <a:lstStyle/>
          <a:p>
            <a:r>
              <a:rPr lang="pt-BR" sz="2800" dirty="0"/>
              <a:t>A energia elétrica é produzida a partir da energia mecânica de rotação de um eixo de uma turbina que movimenta um gerador. </a:t>
            </a:r>
          </a:p>
        </p:txBody>
      </p:sp>
      <p:pic>
        <p:nvPicPr>
          <p:cNvPr id="1026" name="Picture 2" descr="https://cienciasetecnologia.com/wp-content/uploads/2014/02/dinamo-gerador-eletricidade-250x180.jpg?9d31b5">
            <a:hlinkClick r:id="rId2"/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789040"/>
            <a:ext cx="1836523" cy="1469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alterima.com.br/wa_upload/images/turbina8(1)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826083"/>
            <a:ext cx="6200432" cy="310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471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Transmissão de energia</a:t>
            </a:r>
          </a:p>
        </p:txBody>
      </p:sp>
      <p:pic>
        <p:nvPicPr>
          <p:cNvPr id="2050" name="Picture 2" descr="http://novaescola.org.br/img/ciencias/circuito-eletrico-transformador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180" y="2276872"/>
            <a:ext cx="7635639" cy="346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906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de energia</a:t>
            </a:r>
          </a:p>
        </p:txBody>
      </p:sp>
      <p:sp>
        <p:nvSpPr>
          <p:cNvPr id="3" name="AutoShape 4" descr="data:image/jpeg;base64,/9j/4AAQSkZJRgABAQAAAQABAAD/2wCEAAkGBxISEhUUExQVFhUXFhYUGBcYGBgZFxcVGBYXHBoXFhgYHCgkGBslHhYUIjEkJiotLi4uFyA1ODMsNygtLisBCgoKDQ0OGxAQGiwlHyQsLCwwMCwsLC4wLCwsLCwsLCwtNywsLCwsKyw3LDcsLCwsLCwsLCwsNywxLCsrLC8sLP/AABEIAKABOwMBIgACEQEDEQH/xAAcAAEAAgMBAQEAAAAAAAAAAAAABQYDBAcBAgj/xABMEAACAQIDBQMIBgUICQUAAAABAgMAEQQSIQUGEyIxQVFhBxQjMlRxkZIVF0KBk9EkNGLB0hYzUnN0obGyJVNygpSztOHwNUNEY6L/xAAaAQEAAwEBAQAAAAAAAAAAAAAAAQIDBAUG/8QAKBEBAAEEAQIFBAMAAAAAAAAAAAECAwQREiExBRMiQVEjMmGxweHw/9oADAMBAAIRAxEAPwDt968MgAuSLd/ZVN2tvdg1nw8iTxShBKrBJYrrnCZWId105TVa21tkzRTx+e4ZlcSRrFxoAhjdJ9T23zGDt7T40HWL14zgdT4VziXegK6gY6NkWW6txsPzR8RS3GuRpwzIFCjr16CvN4t4o5MQpixcJRHR4/TQiEFUkB4oJzl85W1tLW8aDpVKpu7O9uFWADEY2MyFifSSwlgDbS8ZsR1/7dKlf5ZbO9sw/wCKn50E7WltjasOFhaed8kSZczEE2zMFGgF+rAffVC8ovlMTCRQvgpcPOTKBIgYMTHYkgZTy376198t9cFjtksYZk4kj4b0LMBKCMVCWUr4AE3HYL0Fg+tLZHta/JJ/DT609j+1r8sn8NYsPPiUeVoo3e7ozs0TpMF48eaPnbLN6JpbFLABB2kV84CTaQdnyPnk5ijqgiIELBSWBzK+ZYxlGmpv1uAz/Wnsf2tflk/hp9aex/a1+WT+GsuCnx5GHDmXnZuIRHGGUXFszEZQo1+yCew6a6uB+kokwyEyuQqly4jbMxkcOsr2GUKvDK5dbsetrUGUeVLZB/8Alr8kn8NefWnsf2tflk/hrUxnnM6QNaaQq75myRqRIrRho7K1hFbjC4ueW1zfX727Nim2btPzgEDzabLcKLNw5M6pl9aIcmVjqbm9Bd8POrqrqbqyhlPepFwfhWSqTsPf7Za4aBWxkAZYolILaghFBB++9V3dHytwNiMRBjJUCrLLwcQLLHJEHbKGt0OUCx7aDrFKrH1h7K9ug+an1h7K9ug+ags9KrH1h7K9ug+en1h7K9ug+egs9KqqeUbZRv8ApsGhI1a3Tu06V9/WHsr26D5qCz0qr/WHsr22D56fWFsr22D56CZxm0BGyqVYlwxFrWuq3sSSNSL/AArSn3ijTDpPlYq7ZQBlvfm7b2tynW+unfURi98tjSMrNjobpmy2kK+sLG9rXNvhWE707EyBPPYcqksBxDcMc12zdbnM19e2qzyb0TZ1HKJ/K0NtJRIsdjdo+Ivjr6tu+smztoLNcrewy6nvZQ1h7gwqsnfHYuZH88w+ZAFU5+ijsHhX3gd9djQqVTGwAFmc85PMxudT/wCCkctq1eXx6b2uFKrH1h7K9ug+an1h7K9ug+arMlnpVX+sPZXtsHzV79YeyvboPnoLPSqx9YeyvboPmp9YeyvboPmoLPSqx9YeyvboPmp9YeyvboPmoLPSqx9YeyvboPmqZ2TteDFR8TDypKlyuZTcXHUf3ig3qUpQVneTZkUMDSRYfCZlsTxIVIIvb7NrHUVrySYKNpEfBoTFZXdYI8hlYRZY0vqWbjJYe/WrViIVdSrAFT1B6GsEuzomV1ZFIkIZ9PWYAAMfEBV1/ZFBVoto7OLZTgspFw36PGcrhHfh2W5Z7RvooPTxrFiNrbOS36Dmuqty4eAjn4uUXzWueC+l9NL2q0RbDw6iywoBe+g7crLf35WYf7xr1Ni4cCwiS179O0Ztdep531/aNBAQ4rZ7FbYRGDh2BGHSwRQT2+sbD1Vu2vQCtOfG4XPFkwkAjaxkLwR5o1aR0V2ymwBKMANT1vlykG1fQeHupEScl8umi3BBsO+xIv4mvlN38MMtoU5PV0/aLa9/MSde0nvoKLvRulDtiKJMPHHhljnHGJjVJcnCDAIEBBzLIhFyLX1FwRWffzdnCYXZDJDDGvDbCqr5QZP1qEEl7XJNzf3mr7gMDHCuSJAi3vYd5/8AB8BUH5RtmzYnZ8sUCZ5S0DKpYLfJiI3Op0GiGg19lb5xvAZZVCqFja8bcQXkvaMmwtKMt2XsBBvatjF73Qq8QAco5Id8jAR2w7zZSLXz2CctvtVAPh8SYxH9DWUBBZcVGpHDN0YFTcMP6XXxrzEYbFO2ZtjkmxGuMS2sZjLWzWL5DlzdbdtBZJt6oVnERWTLlnZpcvo1MDKrKdbk3YDQdSO/T7i3owxNvSAgEveN7RheKDxWAshBhkGvaB3iq5CmLVQo2OSMsiXOLjZispUyXZmuSxVTe99K+4GxiIyDZF1dOG4bFRNnW7k5yxJYkyOSTqcxvQXLZe0EnUsoYWYqQylWBAB1B8CD99Re/wCP9GY7+yz/APKaofZuN2hApWPZTWJzHNjI2JNgLlnYk9B29lYt4sbtTE4WeAbNy8WGSLN5zCcudSt7X1tegs272Ej80w/In8xF9kf6tfCqxuj5OYsNisTjMQEkmlmmeMAckUcjsdAR6xDWPcBYVcdiwtHh4UYWZYo1YdbMqAEXHXWt2gjvoHCezQfhJ/DT6Bwns0H4SflUjXl6Dn+7GycOdq7WUwQlVOCyqY0IW8L3yi2l6uH0DhPZoPwk/Kq3uuQNrbXJ01wA+/gvYf3irrQR30DhPZoPwk/Kn0DhPZoPwk/KpGlBHfQOE9mg/CT8qqu5+x8M2K2mGghIXFqFBjQhR5vEbC40FyavZqo7mfre1f7Wv/TRUE79BYT2aD8JPyp9A4T2aD8JPyqRpQR30DhPZoPwk/Kn0DhPZoPwk/KpGlBHfQOE9mg/CT8qfQOE9mg/CT8qkaUFO8oOxsMuzMYywQqww8pBEaAg5TqCBpUpsXYeFOHhJw8BJijJPCTU5B4Vg8o5/wBF43+zS/5DUtsQ/o0H9VH/AJBQfH0DhPZoPwk/Kn0DhPZoPwk/KpGlBHfQOE9mg/CT8qfQOE9mg/CT8qkaUEd9A4T2aD8JPyrcw2GSNcsaKi9bKoUX9wrLSgUpSgUpSgUpSgUpSgV5avaUClKUClKUClKUClK18ZMqoSTbQ27+nZ40GaRwoJJAA1JOgA8Sa1dp4KPEwvDJrHKjI1ja6sLGxHhUX52DhxGAzErk5ySLftE9bg9tZ8LiZBluAFVQCOmg7f7qDlW4/kywybVxSyO0i4J4GiXpmMql1Mh7cuXs6n4V26qrhnw2GxOKmDu8mIePiAAEJw48qoAOtrk9+vhVjixSNazDXoO34HW9ZU3rdVU0xPWF5t1R1mGelKVqogt9Nm4rEYYrg8Q2HnBzIwtlYgHkfQ2U36joQOvQ8r8l2ytrvj52xGIkiSKYHEi6kzShVsmgOhXJc9xFtTp3GqjuX+t7V/ta/wDTRUFupSlApSlApSlBzDy04baXAeTDSfovBZcRFyZsut3GYaixsbG4sLDrU15MMLtJMNfHyo+ZUMSra6R5dMzAAEnTTX39lSPlG/8AS8bb2aX/ACmpbYZ/RoP6qP8AyCg3qUpQKUpQKUpQKUpQKUpQKUpQKUpQKUpQDURtTaUkU0ShUMTCQuxZgyhFzEqoUhtO8ipetDH7HimkSSQOWjDBbSOq2cWYMqsA1x3g0ERi984Bh3mjDuQjOq8NwSFjWTMQQCqZZIzc/wBIVsfyngUnOwA6KArlmYSNGw6anOrAAd1+2s2J3YwjrlaPSwXRnUlciplJUglSqICDocorxt1sKeJyN6W4e0kgupYsVHNyqWZiQNDc3oNdd7Ys8iNHOpSXgj0bNxG4QlOUJcgZT22rJ/KvDC2ZyPXJbI+RcgkJDMRynLFIbfs+Ivvx7IgVw4QBg/Evr63DEV7f7AC/dWsu7WGDB1RlIvbK8ii7Z7tYNbNzuL9Reg2odpxtGJb5UPQvy9tgdew9nfXNN898mwm0gGBfDtFGTb1kN2uyd46aV0zC7MijiESLyC5sSW1JJLEtckkkm57TVe3t3ZixMeWRenquBzIT3fvFceTduUTExHpdWL5XP6iC2nv3Co9AA5KCzG9sxtbl7bXPXtqsbW3ixM9xxCFORsoUjUfZX3db9pFWTZe4bWVXbNlGUZRl0F+pPvqz7P3Sij7APdqT7yda8+bmTdn0xL26b3h+L9scp/3z/ChbPTEjCqsTZHaRixeysVYsb9Lk9OnfUru/u1iFlWcszSC4BIsBm0Ju2p/uroMGzIltZASDcE6m/fc1t5RW1rAr71zqfw4r3i0zFUUUxqWLB58oz2zeHSsxNeihr1KadRp5Ey8vVc2VgfM5MfiJ3jWKWYThs1gqLCinPcCxup7659jt+sScQ6tMwKM2WLDojMFAVrkMWDHLxL5yo5Taxr53o2p535pxkdmQqVYwkwyuzA5kAZ1DZdCrKxvfKvQ1rwlTk6bgt58LNKYYpo2kW10vZ7EA3ynqLEa1NVxbdTFhtqRR8QHLIW4ZjsyXwo5lkt6p7tOvSu01FVOimdlKUqqxSlDQce8o+JfFY98LIT5vBFE/DBYCWSS5BksdQoWwHfrUbusxwGOw3m/LHiJRh5YrtkbMpIcC/K4KdRV28o26RlzY6CQRzxQvnDLmSaNAWCsAbgi2hFaHk/3Pdmw+PxUquRGHhiRSqIzr67EklmsbffQWDDbwTxmXjBZiMUcLEsKZHZuDxQXMkpHS47OlbMu9qh8ggmYk5UI4fO4kSN1F30ys4BJ00bsFTnmcd75Fvn4nQfzmXLn/ANq2l+6sI2RhxIZRDHxGIJfKMxItYk/cPgKCvY/fVRhpJoYnYrhTiVz5VU2VTYXa7WzC5W4FrXvWfFb1LhlInSRmjjvKyhNH4bSZLBtSURjpp0F9amF2LhgSRDHdk4ZOQaxj7B09Xw8K+8RsuCRy7xIzlDGWKgkoTcrc9nhQQmP3wERKthZ8wtcXi0LcbKL8SxuIWOnYRX2N74ybLFKwZQUbkAdy0S5BduU3mjFzYde6p2XBRsbsikm3UA9LgfDM3xNarbBwpLkwREuojc5F5kAACnTUaDTwFBAxb6qkbNNE9142fLlITIZyiHm5mKQPqLrcDXWrHhcazrdoZEN2GVst7BiAeViNQAevQ1iGwsKLegi0RohyLpGxuyDT1Sb3HiakMooPaUpQKUpQKUpQKUpQKUpQKUpQKUpQK8Ir2lAtSlKaClKUCvDXtDQfnCSQmdu1h5x1AyhQmI6K1gTbuPX4VIT4eIvDYx5yYhIM0Of+bGUMMwe1hfnVx7tKj51YzEFlUEz20bsTEd19T++pnEYs5IYrSBS8LF2MvBPo11FwI7W05WGvZe9dMsY92zuntK+1ooOMxCvnEJjAVL4b1lkB1vfpYda7bXEt1cYx2vDFxJiiyFhGUHAVjhfWR7kljfpYdTXbayud2lPYpUPvDvAmDCFocRLnJAEETSkWtqwXoNahfrEi9i2l/wAHJWay5UqiTeVTBpfPBjlI6hsMwt77nSscflawLAFYcaQRcEYdiCO8EHWgtm9H6liv7PN/y2qM3a2gkGzcI75rebxXygmwCAkm3ZpVb255TsLLhp40gxuZ4pEW+HYDMyEC5voNajtn774QYXCwum0FaBEBKYc2LKoH2rgju0qJ37LUcd+rs6NNt2JWKkSZgQAAhJbr6veOVvhWSXbMKqGuSpVXBAJGVmAU6d5YfA91c8bfbAXY5NpXL8QHgaq1mHKbXtZiNb6dLV9y79bPMbRiHaChsguuHN1VLZVW99NL/ee+o9TX6HTuvk220XOMshMdiwC65TfmFyLjlPwrNJtONQubMpZc4BBv1UWI77sunjXPB5Q9nRLIXXH5WYO2eCwBzXtfTS9hqT3VKY7fPDylC2D2p6Ns4thJBc9zd46G3gKRtE+Vv31/S+ivapg8ocXsW0v+DkqS2DvZHipDGuHxkRCls02HeNNCBYMe3XpVmKw0pSgUpSgUpSgUpSgUpSgV8TSBVLE2CgsT4DU191hxcGdGS9syst+64Iv/AH0Grs3bMM6BkawuBZwUa5CkDK1jqHU/7wr2TasSrIzMAsZKsxIAzBblQb9Re3vqLw252HQwHKCIYnjGYXLM3B9IWNyGHAS3/atGLccLDwxIhPMMzRZsysmS7qW5pAvRtBe+mpoLTh8YjBbHVr5QbAm3Ww7aycdbE5lst7m4sMvW57LdtVjD7lqjhuJcZncgrzZi8rjKwPKt5nzD7QC6jW+3Fu4RhPNs6+sHBCWQZXDqhQk5k5QCCSSO2gk8BtSKUXRwbtIg1ALGJyrlRfmFx1HhT6SjMpiBYso5iFbIptezPaym1jY9hHfUFszc4QzpMZFYguxXh2Cszyt6Hm9GPTOttdLdNTWxLuuGlLs91zSSILHMryIytdi1mUZtAAOgF7AUE551Hpzpq2Qcw1fXlGvXQ6eFY8TtGKONpGdQi3ucw0sL269bdnjVfxe5cZEKxlEWNFQjhgjlaNsyAEZGJiQE63GnZWE7iIIhGjqAI1i5o1ZT6Lhs5UEekI1Ddhv1BoLVBikcaMCcqsRfUBhcXHUVpbN25BMCyvYDJ64KGz3yMA1rhrGx7bVp7E3aGHllkzhzJfUrzgFsxUtfVbnQADsvewtrS7mR+bpCrWyizOVzFrxlCbE8rAMcttFPZ2UE1jdr4eG3EmjS7rGLsBzubKvvJB+B7q2kmU5gGBK6GxBINr2Nuh1FQI3ShCBRYMMQuIL5VzNkxDTBGPaOYrfuJrNu9u8MIZSGDGRr5stnyhnYB2vzWLt2DqdLkkhweRQJmPB6nE62HNdcRr6wv3/dW5ipUSaNhkEoMJzDgCS3DXq2ZZfmKj7rVk2jsTFYeRnaPEKLzktwzlUMs/RkR9Odeo7ezqJXBYaWXJwo5H4bRE5FnICiJetnjjBB1sC516iuiZhlES+t1ZnO14RmxRQOSA36sCcN9g3N5Ot/vrttcp3Z3Zxg2jHOyziJGJIkkXggNBlvFFmLZr9SQO3rXVqyrnqvSUpXhqiyI3mx8S4fEK0satwZOUuoOqNbQmo/ycY2Ntm4JBIhcYaEFQwLAiMaEXv2H4VW/Kp5N4sYHxkbBMQkZLZheOVUQ2zAahgBYHwHdXz5IdwsPBDBj258RLCrg2ssauo0VR1a3Vjqdel6Dp1KUoFeGvaUHIfK7v5hTBitn5ZhODH1SycrxvcNe9rDu1q6bm794fabSDDxzhYwpZ3QKlyTyghjdrC/31BeXLYcE2z3ndPSwmPI40YK0iqyk9oOYm3far7s3Z8WHjWKFFjjXRVUWAH50G1SlKBSlKBSlKBSlKBSlKBSlKBSlKBSlKBSlKBSlKBSlKBSlKBSlKDy1LV7Sg8tXtKUClKGg1dqYYywyxggF43QE9AWUgE/GtbdjZrYXB4fDsQzRRJGWHQlVAuL9mlbuJxCxqWdgqjqSbCqHvH5RETlg7TbiMNB4qvd4msbt+i39zpxsS9k1at07/ToINe1zXdXa80OJy4hmKzgWZu1vssCew3tp3iukCox79N6ncdE5eLVj18ZncT1iY7S+qUpW7lV3f3ZS4zBvhjKIuKUAcqWAKMJOgI7ENTsOIVywU3ynKfA2Bt8GHxqH23tRIpApiZ2CqSQRYKz9LE6/wA2fhWhuxtWFpJAocZpmWPNfpwYyQTc39Rjc/GmpFspXgr2gUpSgUpSgUpSgUpSgUpSgUpSgUpSgUpSgUpSgUpSgUpSgUpSgUpSg0dp7R4WUKhkkckIgIF8ouSSdFUDt8R31h/lBhwxR3COACynsJy8lxozAugsCTzr3ism0tlpMUYs6Ml7MjZWytbMhP8ARbKt+3QEWIrRl3XhZnYNIM4YWDAqpfJnZQwOrGNCb31HjQbR3hwwbKZAGy57MGFhYGxuNGsynKddRpW9BiA6hlvYi4uCD94IuKhjurBe4aUcuW2e4B4axl+cG7FUQG9/V6ampDzExwCKFypVAiO3ORYdTm6/fUTOoRKh7/CaSYhhlVBeJb3zC3MzAaa6gdoA8aquzoYpJY+ImdcynQEtoQezqOtxVlxGxsTCzecMZCzXEupB7gf6PT3UGxGUcS+WERyCRf8AWlugAtc2F6+au1V135menw+kwvELdvF49p/TTwMGHMsCO7uss8tsrBrMTmKsb8q2WwAv91daWuUbtyRJFkiiySmIF3N3sJLciMegse3XS9XTdhJwq3YmPsDdg6aHqa7sS/EXJo1MzPu8bLyKbtcU0TMxT8rLWvtDFCKNpCLhRe332/fWwKjd4x+jSe794r2HK57jEQMJCQiKWZgVPPduwkC9jcdvWsUsUbl2EZYhSg63V8vUjSxAYm9u2tjakbZFWR84IFhmAsCdOYrprfrfpWeBZONMqOS6uxds66lY47lSyWAAKC1ut6sqvWxNpDER5wrLYlLNlJuvbdSakKr24/6u3hLJ/iPzqw1WVilKUClKUClKUClKUClKUClKUClKUClKUClKUClKUClKUClKUClKUClKUClKUHzIgIsRcVEYvYw/9vTuB7Pd3VM0rC9jW70euCUbg9kIvUAnr4A/vqRApavavbtUW41TBJUVvRIFwz3/AGR8WFStQm+TWwreLIPiwrSBRZ3BKEFr5VLMUIAYnmGXtsP8a+0zMX9UBc2RmjYq4CqRYX01JF/2a9hw5DLfMRZQSWuc1+YrddBbpW0uYM5KyFbsUsUzgEALnvoRfN08Ksqsm4o9BJ4zyn3dNKsdQO5n6uf62T/Gp6qysUpSgUpSgUpSgUpSgUpSgUpSgUpSgUpSgUpSgUpSgUpSgVEbS29HBMkTK/PluwC5EzyCNM12B1dgNAfGpeo3E7FiknXEMoMixtEpIByhjclbi4bs69KDDLvJhgoKzRvmkWIZXXV2ym1ye5gfvFI948O0zQrIrMgGYhlspOflOvW0baeB7jWv/JOEDDBWdfNkEa+qc6DJpIGUgm8aG4AItWGTc2JvXllZQpRUJQBEKyrlBCXOkz6kk6L3ahLwbZw7iMrNGwlJEdmBzkXuF77WPwrFjtvQRSpCzrxHJ5bi6qEd879y2Q6+IrXwu7ipIkglkLqzu7cgMzObniFUHL05RYaDTSsW1d048QzlpJQrkuyKVA4hhMOcHLmByEaXtcdOtBt4nb0SwrNHeZGdY14RUlnZwgALEAanW5Fq+8Lt3DuEtKoLx8YKxAbh2uWIJ0A/dWF93Inw64eUmRFdZDmCc7K4fmAWxBI101rBiN1IXllkLOBMgRkGXKCEVAyXW68qJoDY5RftuEjhdsYeUBo5o3BtYhgerFR/+lYe8GsKbw4RstsREc7ZF5xzNcDKveblfiO+ofCbmXzGaZ3LNJntkAkUzTOmbkGUgTtfLYe+1bOG3PiQLeSRmVGiDHIGKmSKTXKoubwpr7/CwSj7YhEc0iuHEAcyZCCVKKWZbX62HSsGC2/C4XMeE7SGLhyFQ/EADZRlJDGzKdD29+lfGG3cjSKWLM5WWMw6kXSKzBUWw+znbU3JvqTXj7sw+iC+jWIBQiBQrKHVwpGXTnRG0t01vQervRgy8aLOjmVzGmQhgWCZ7Ejppb5hWHbOIixOFcxSK4DAXQggMpGht7xWeLdyERQxc2WFcg6AsDC0XOQNTlc/3Vig3fMWF4EchY3BDSBbmxFg2RRfQAX6/wCFBTcRjQjxkRiyhVy9jFNSWJXtFa+ExnFkb0YsysQubRRJ0tYaEFG7PtVPYncyd7XeEAX6Z9bisuy9zZISSHjPKqj1uwkm+njVtoTG5keXD2/+x/8AGp2o7YWAaCMoxBJdm06cxvbXrUjVUlKUoP/Z">
            <a:hlinkClick r:id="rId2"/>
          </p:cNvPr>
          <p:cNvSpPr>
            <a:spLocks noChangeAspect="1" noChangeArrowheads="1"/>
          </p:cNvSpPr>
          <p:nvPr/>
        </p:nvSpPr>
        <p:spPr bwMode="auto">
          <a:xfrm>
            <a:off x="2896791" y="103584"/>
            <a:ext cx="3086100" cy="157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pt-BR" sz="135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38" y="2180929"/>
            <a:ext cx="7821724" cy="303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344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Carga</a:t>
            </a:r>
            <a:r>
              <a:rPr lang="en-US" dirty="0"/>
              <a:t> </a:t>
            </a:r>
            <a:r>
              <a:rPr lang="en-US" dirty="0" err="1"/>
              <a:t>Elétrica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dirty="0"/>
              <a:t>O </a:t>
            </a:r>
            <a:r>
              <a:rPr lang="en-US" dirty="0" err="1"/>
              <a:t>átomo</a:t>
            </a:r>
            <a:r>
              <a:rPr lang="en-US" dirty="0"/>
              <a:t> é </a:t>
            </a:r>
            <a:r>
              <a:rPr lang="en-US" dirty="0" err="1"/>
              <a:t>formado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partículas</a:t>
            </a:r>
            <a:r>
              <a:rPr lang="en-US" dirty="0"/>
              <a:t> </a:t>
            </a:r>
            <a:r>
              <a:rPr lang="en-US" dirty="0" err="1"/>
              <a:t>elétricas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92500"/>
          </a:bodyPr>
          <a:lstStyle/>
          <a:p>
            <a:r>
              <a:rPr lang="en-US" sz="2400" b="1" dirty="0" err="1"/>
              <a:t>Próton</a:t>
            </a:r>
            <a:r>
              <a:rPr lang="en-US" sz="2400" dirty="0"/>
              <a:t>: </a:t>
            </a:r>
            <a:r>
              <a:rPr lang="en-US" sz="2400" dirty="0" err="1"/>
              <a:t>Possui</a:t>
            </a:r>
            <a:r>
              <a:rPr lang="en-US" sz="2400" dirty="0"/>
              <a:t> </a:t>
            </a:r>
            <a:r>
              <a:rPr lang="en-US" sz="2400" dirty="0" err="1"/>
              <a:t>carga</a:t>
            </a:r>
            <a:r>
              <a:rPr lang="en-US" sz="2400" dirty="0"/>
              <a:t> </a:t>
            </a:r>
            <a:r>
              <a:rPr lang="en-US" sz="2400" dirty="0" err="1"/>
              <a:t>positiva</a:t>
            </a:r>
            <a:endParaRPr lang="en-US" sz="2400" dirty="0"/>
          </a:p>
          <a:p>
            <a:r>
              <a:rPr lang="en-US" sz="2400" b="1" dirty="0" err="1"/>
              <a:t>Elétron</a:t>
            </a:r>
            <a:r>
              <a:rPr lang="en-US" sz="2400" dirty="0"/>
              <a:t>: </a:t>
            </a:r>
            <a:r>
              <a:rPr lang="en-US" sz="2400" dirty="0" err="1"/>
              <a:t>Possui</a:t>
            </a:r>
            <a:r>
              <a:rPr lang="en-US" sz="2400" dirty="0"/>
              <a:t> </a:t>
            </a:r>
            <a:r>
              <a:rPr lang="en-US" sz="2400" dirty="0" err="1"/>
              <a:t>carga</a:t>
            </a:r>
            <a:r>
              <a:rPr lang="en-US" sz="2400" dirty="0"/>
              <a:t> </a:t>
            </a:r>
            <a:r>
              <a:rPr lang="en-US" sz="2400" dirty="0" err="1"/>
              <a:t>negativa</a:t>
            </a:r>
            <a:endParaRPr lang="en-US" sz="2400" dirty="0"/>
          </a:p>
          <a:p>
            <a:r>
              <a:rPr lang="en-US" sz="2400" b="1" dirty="0"/>
              <a:t>Neutron</a:t>
            </a:r>
            <a:r>
              <a:rPr lang="en-US" sz="2400" dirty="0"/>
              <a:t>: </a:t>
            </a:r>
            <a:r>
              <a:rPr lang="en-US" sz="2400" dirty="0" err="1"/>
              <a:t>Não</a:t>
            </a:r>
            <a:r>
              <a:rPr lang="en-US" sz="2400" dirty="0"/>
              <a:t> </a:t>
            </a:r>
            <a:r>
              <a:rPr lang="en-US" sz="2400" dirty="0" err="1"/>
              <a:t>possui</a:t>
            </a:r>
            <a:r>
              <a:rPr lang="en-US" sz="2400" dirty="0"/>
              <a:t> </a:t>
            </a:r>
            <a:r>
              <a:rPr lang="en-US" sz="2400" dirty="0" err="1"/>
              <a:t>carga</a:t>
            </a:r>
            <a:endParaRPr lang="en-US" sz="2400" dirty="0"/>
          </a:p>
          <a:p>
            <a:r>
              <a:rPr lang="en-US" sz="2400" dirty="0"/>
              <a:t>A </a:t>
            </a:r>
            <a:r>
              <a:rPr lang="en-US" sz="2400" dirty="0" err="1"/>
              <a:t>carga</a:t>
            </a:r>
            <a:r>
              <a:rPr lang="en-US" sz="2400" dirty="0"/>
              <a:t> </a:t>
            </a:r>
            <a:r>
              <a:rPr lang="en-US" sz="2400" dirty="0" err="1"/>
              <a:t>elétrica</a:t>
            </a:r>
            <a:r>
              <a:rPr lang="en-US" sz="2400" dirty="0"/>
              <a:t> é </a:t>
            </a:r>
            <a:r>
              <a:rPr lang="en-US" sz="2400" dirty="0" err="1"/>
              <a:t>definida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:</a:t>
            </a:r>
          </a:p>
          <a:p>
            <a:pPr>
              <a:buNone/>
            </a:pPr>
            <a:r>
              <a:rPr lang="en-US" dirty="0"/>
              <a:t>		  </a:t>
            </a:r>
            <a:r>
              <a:rPr lang="en-US" dirty="0">
                <a:solidFill>
                  <a:srgbClr val="FF0000"/>
                </a:solidFill>
              </a:rPr>
              <a:t> Q=</a:t>
            </a:r>
            <a:r>
              <a:rPr lang="en-US" dirty="0" err="1">
                <a:solidFill>
                  <a:srgbClr val="FF0000"/>
                </a:solidFill>
              </a:rPr>
              <a:t>n.e</a:t>
            </a: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endParaRPr lang="en-US" b="1" dirty="0"/>
          </a:p>
          <a:p>
            <a:pPr lvl="2"/>
            <a:r>
              <a:rPr lang="en-US" sz="2300" dirty="0"/>
              <a:t>e = 1,6.10</a:t>
            </a:r>
            <a:r>
              <a:rPr lang="en-US" sz="2300" baseline="30000" dirty="0"/>
              <a:t>-19</a:t>
            </a:r>
            <a:r>
              <a:rPr lang="en-US" sz="2300" dirty="0"/>
              <a:t>C</a:t>
            </a:r>
          </a:p>
          <a:p>
            <a:pPr lvl="2"/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n = Número de partículas</a:t>
            </a:r>
          </a:p>
          <a:p>
            <a:pPr lvl="2"/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Q = Carga Elétrica Elementar</a:t>
            </a:r>
          </a:p>
          <a:p>
            <a:endParaRPr lang="pt-BR" sz="2400" b="1" dirty="0"/>
          </a:p>
        </p:txBody>
      </p:sp>
      <p:pic>
        <p:nvPicPr>
          <p:cNvPr id="5" name="Picture 2" descr="http://www.portalsaofrancisco.com.br/alfa/carga-eletrica/imagens/carga-eletrica-15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745720"/>
            <a:ext cx="4197216" cy="37862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Eletrostática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400" b="1" dirty="0"/>
              <a:t>Eletrostática</a:t>
            </a:r>
            <a:r>
              <a:rPr lang="pt-BR" sz="2400" dirty="0"/>
              <a:t> - estuda os fenômenos provocados pela eletricidade em equilíbrio.</a:t>
            </a:r>
            <a:endParaRPr lang="pt-BR" dirty="0"/>
          </a:p>
          <a:p>
            <a:r>
              <a:rPr lang="en-US" sz="2400" b="1" dirty="0"/>
              <a:t>Como </a:t>
            </a:r>
            <a:r>
              <a:rPr lang="en-US" sz="2400" b="1" dirty="0" err="1"/>
              <a:t>os</a:t>
            </a:r>
            <a:r>
              <a:rPr lang="en-US" sz="2400" b="1" dirty="0"/>
              <a:t> </a:t>
            </a:r>
            <a:r>
              <a:rPr lang="en-US" sz="2400" b="1" dirty="0" err="1"/>
              <a:t>corpos</a:t>
            </a:r>
            <a:r>
              <a:rPr lang="en-US" sz="2400" b="1" dirty="0"/>
              <a:t> </a:t>
            </a:r>
            <a:r>
              <a:rPr lang="en-US" sz="2400" b="1" dirty="0" err="1"/>
              <a:t>ficam</a:t>
            </a:r>
            <a:r>
              <a:rPr lang="en-US" sz="2400" b="1" dirty="0"/>
              <a:t> </a:t>
            </a:r>
            <a:r>
              <a:rPr lang="en-US" sz="2400" b="1" dirty="0" err="1"/>
              <a:t>eletrizados</a:t>
            </a:r>
            <a:r>
              <a:rPr lang="en-US" sz="2400" b="1" dirty="0"/>
              <a:t>?</a:t>
            </a:r>
          </a:p>
          <a:p>
            <a:pPr lvl="2"/>
            <a:r>
              <a:rPr lang="en-US" b="1" dirty="0" err="1"/>
              <a:t>Contato</a:t>
            </a:r>
            <a:endParaRPr lang="en-US" b="1" dirty="0"/>
          </a:p>
          <a:p>
            <a:pPr lvl="2"/>
            <a:r>
              <a:rPr lang="en-US" b="1" dirty="0" err="1"/>
              <a:t>Atrito</a:t>
            </a:r>
            <a:endParaRPr lang="en-US" b="1" dirty="0"/>
          </a:p>
          <a:p>
            <a:pPr lvl="2"/>
            <a:r>
              <a:rPr lang="en-US" b="1" dirty="0" err="1"/>
              <a:t>Indução</a:t>
            </a:r>
            <a:endParaRPr lang="en-US" b="1" dirty="0"/>
          </a:p>
          <a:p>
            <a:pPr lvl="2"/>
            <a:endParaRPr lang="pt-BR" dirty="0"/>
          </a:p>
          <a:p>
            <a:pPr lvl="2">
              <a:buNone/>
            </a:pPr>
            <a:endParaRPr lang="en-US" sz="2300" b="1" dirty="0"/>
          </a:p>
          <a:p>
            <a:pPr marL="880110" lvl="1" indent="-514350">
              <a:buFont typeface="+mj-lt"/>
              <a:buAutoNum type="arabicPeriod"/>
            </a:pPr>
            <a:endParaRPr lang="en-US" sz="2600" b="1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7</a:t>
            </a:fld>
            <a:endParaRPr lang="pt-BR"/>
          </a:p>
        </p:txBody>
      </p:sp>
      <p:pic>
        <p:nvPicPr>
          <p:cNvPr id="10" name="Picture 6" descr="00575s5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4088" y="2996952"/>
            <a:ext cx="3528392" cy="30408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4" descr="pulseir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620069" y="4049437"/>
            <a:ext cx="2879923" cy="20438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Eletrostática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 err="1"/>
              <a:t>Atrito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Condução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Indução</a:t>
            </a: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8</a:t>
            </a:fld>
            <a:endParaRPr lang="pt-BR"/>
          </a:p>
        </p:txBody>
      </p:sp>
      <p:pic>
        <p:nvPicPr>
          <p:cNvPr id="6" name="Picture 4" descr="atrit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338" y="1592394"/>
            <a:ext cx="6049126" cy="1188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19" descr="contat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83768" y="3167294"/>
            <a:ext cx="6506643" cy="1125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0" descr="induca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05478" y="4626345"/>
            <a:ext cx="5862958" cy="1452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Mitos</a:t>
            </a:r>
            <a:r>
              <a:rPr lang="en-US" dirty="0"/>
              <a:t> e </a:t>
            </a:r>
            <a:r>
              <a:rPr lang="en-US" dirty="0" err="1"/>
              <a:t>Verdades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Se não está chovendo não caem raios.</a:t>
            </a:r>
          </a:p>
          <a:p>
            <a:pPr lvl="2"/>
            <a:r>
              <a:rPr lang="pt-BR" sz="1500" dirty="0">
                <a:solidFill>
                  <a:srgbClr val="FF0000"/>
                </a:solidFill>
              </a:rPr>
              <a:t>Os raios podem chegar ao solo a até 15 km de distância do local da chuva.</a:t>
            </a:r>
          </a:p>
          <a:p>
            <a:r>
              <a:rPr lang="pt-BR" dirty="0"/>
              <a:t>Sapatos com sola de borracha ou os pneus do automóvel evitam que uma pessoa seja atingida por um raio.</a:t>
            </a:r>
          </a:p>
          <a:p>
            <a:pPr lvl="2"/>
            <a:r>
              <a:rPr lang="pt-BR" sz="1500" dirty="0">
                <a:solidFill>
                  <a:srgbClr val="FF0000"/>
                </a:solidFill>
              </a:rPr>
              <a:t>A carroceria metálica do carro dá uma boa proteção a quem está em seu interior; sem tocar em partes metálicas.</a:t>
            </a:r>
          </a:p>
          <a:p>
            <a:r>
              <a:rPr lang="pt-BR" dirty="0"/>
              <a:t>As pessoas ficam carregadas de eletricidade quando são atingidas por um raio e não devem ser tocadas.</a:t>
            </a:r>
          </a:p>
          <a:p>
            <a:pPr lvl="2"/>
            <a:r>
              <a:rPr lang="pt-BR" sz="1500" dirty="0">
                <a:solidFill>
                  <a:srgbClr val="FF0000"/>
                </a:solidFill>
              </a:rPr>
              <a:t>As vítimas de raios não "dão choque" e precisam de urgente socorro médico, especialmente reanimação </a:t>
            </a:r>
            <a:r>
              <a:rPr lang="pt-BR" sz="1500" dirty="0" err="1">
                <a:solidFill>
                  <a:srgbClr val="FF0000"/>
                </a:solidFill>
              </a:rPr>
              <a:t>cardio-respiratória</a:t>
            </a:r>
            <a:r>
              <a:rPr lang="pt-BR" sz="1500" dirty="0">
                <a:solidFill>
                  <a:srgbClr val="FF0000"/>
                </a:solidFill>
              </a:rPr>
              <a:t>.</a:t>
            </a:r>
          </a:p>
          <a:p>
            <a:r>
              <a:rPr lang="pt-BR" dirty="0"/>
              <a:t>Um raio nunca cai duas vezes no mesmo lugar.</a:t>
            </a:r>
          </a:p>
          <a:p>
            <a:pPr lvl="2"/>
            <a:r>
              <a:rPr lang="pt-BR" sz="1500" dirty="0">
                <a:solidFill>
                  <a:srgbClr val="FF0000"/>
                </a:solidFill>
              </a:rPr>
              <a:t>Não importa qual seja o local ele pode ser atingido repetidas vezes, durante uma tempestade. Isto acontece até com pessoas.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9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Condutores</a:t>
            </a:r>
            <a:r>
              <a:rPr lang="en-US" dirty="0"/>
              <a:t> e </a:t>
            </a:r>
            <a:r>
              <a:rPr lang="en-US" dirty="0" err="1"/>
              <a:t>Isolantes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612648" y="1525488"/>
            <a:ext cx="8153400" cy="4495800"/>
          </a:xfrm>
        </p:spPr>
        <p:txBody>
          <a:bodyPr>
            <a:normAutofit/>
          </a:bodyPr>
          <a:lstStyle/>
          <a:p>
            <a:r>
              <a:rPr lang="en-US" b="1" dirty="0" err="1"/>
              <a:t>Condutores</a:t>
            </a:r>
            <a:r>
              <a:rPr lang="en-US" b="1" dirty="0"/>
              <a:t>: </a:t>
            </a:r>
            <a:r>
              <a:rPr lang="pt-BR" dirty="0"/>
              <a:t>São materiais que apresentam portadores de cargas elétricas (elétrons ou íons) quase livres. </a:t>
            </a:r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10</a:t>
            </a:fld>
            <a:endParaRPr lang="pt-BR"/>
          </a:p>
        </p:txBody>
      </p:sp>
      <p:pic>
        <p:nvPicPr>
          <p:cNvPr id="6" name="Picture 13" descr="motor11_0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043608" y="2492896"/>
            <a:ext cx="3456384" cy="3010010"/>
          </a:xfrm>
          <a:prstGeom prst="rect">
            <a:avLst/>
          </a:prstGeom>
          <a:noFill/>
          <a:ln/>
        </p:spPr>
      </p:pic>
      <p:pic>
        <p:nvPicPr>
          <p:cNvPr id="8" name="Picture 4" descr="fiocondutor10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292080" y="2852936"/>
            <a:ext cx="3385891" cy="2448272"/>
          </a:xfrm>
          <a:prstGeom prst="rect">
            <a:avLst/>
          </a:prstGeom>
          <a:noFill/>
          <a:ln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Condutores</a:t>
            </a:r>
            <a:r>
              <a:rPr lang="en-US" dirty="0"/>
              <a:t> e </a:t>
            </a:r>
            <a:r>
              <a:rPr lang="en-US" dirty="0" err="1"/>
              <a:t>Isolantes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612648" y="1525488"/>
            <a:ext cx="8153400" cy="4495800"/>
          </a:xfrm>
        </p:spPr>
        <p:txBody>
          <a:bodyPr>
            <a:normAutofit/>
          </a:bodyPr>
          <a:lstStyle/>
          <a:p>
            <a:r>
              <a:rPr lang="pt-BR" b="1" dirty="0"/>
              <a:t>Isolantes ou dielétricos: </a:t>
            </a:r>
            <a:r>
              <a:rPr lang="pt-BR" dirty="0"/>
              <a:t>Os materiais isolantes se caracterizam por não apresentar portadores de cargas elétricas livres para movimentação.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11</a:t>
            </a:fld>
            <a:endParaRPr lang="pt-BR"/>
          </a:p>
        </p:txBody>
      </p:sp>
      <p:pic>
        <p:nvPicPr>
          <p:cNvPr id="9" name="Picture 6" descr="isolante30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3212976"/>
            <a:ext cx="3446071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7" descr="condutores-e-isolantes-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4870005" y="3068960"/>
            <a:ext cx="3463967" cy="2736304"/>
          </a:xfrm>
          <a:prstGeom prst="rect">
            <a:avLst/>
          </a:prstGeom>
          <a:noFill/>
          <a:ln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Raios</a:t>
            </a:r>
            <a:r>
              <a:rPr lang="en-US" dirty="0"/>
              <a:t> e Par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Os </a:t>
            </a:r>
            <a:r>
              <a:rPr lang="en-US" dirty="0" err="1"/>
              <a:t>raios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gerados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de </a:t>
            </a:r>
            <a:r>
              <a:rPr lang="en-US" dirty="0" err="1"/>
              <a:t>nuvens</a:t>
            </a:r>
            <a:r>
              <a:rPr lang="en-US" dirty="0"/>
              <a:t> </a:t>
            </a:r>
            <a:r>
              <a:rPr lang="en-US" dirty="0" err="1"/>
              <a:t>intensamente</a:t>
            </a:r>
            <a:r>
              <a:rPr lang="en-US" dirty="0"/>
              <a:t> </a:t>
            </a:r>
            <a:r>
              <a:rPr lang="en-US" dirty="0" err="1"/>
              <a:t>carregadas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procuram</a:t>
            </a:r>
            <a:r>
              <a:rPr lang="en-US" dirty="0"/>
              <a:t> </a:t>
            </a:r>
            <a:r>
              <a:rPr lang="en-US" dirty="0" err="1"/>
              <a:t>descarregar</a:t>
            </a:r>
            <a:r>
              <a:rPr lang="en-US" dirty="0"/>
              <a:t> o </a:t>
            </a:r>
            <a:r>
              <a:rPr lang="en-US" dirty="0" err="1"/>
              <a:t>excesso</a:t>
            </a:r>
            <a:r>
              <a:rPr lang="en-US" dirty="0"/>
              <a:t> com o solo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outras</a:t>
            </a:r>
            <a:r>
              <a:rPr lang="en-US" dirty="0"/>
              <a:t> </a:t>
            </a:r>
            <a:r>
              <a:rPr lang="en-US" dirty="0" err="1"/>
              <a:t>núvens</a:t>
            </a:r>
            <a:r>
              <a:rPr lang="en-US" dirty="0"/>
              <a:t>.</a:t>
            </a: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12</a:t>
            </a:fld>
            <a:endParaRPr lang="pt-BR"/>
          </a:p>
        </p:txBody>
      </p:sp>
      <p:pic>
        <p:nvPicPr>
          <p:cNvPr id="26626" name="Picture 2" descr="o edifício é protigido pelo para-rai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526" y="2276872"/>
            <a:ext cx="3429473" cy="3957084"/>
          </a:xfrm>
          <a:prstGeom prst="rect">
            <a:avLst/>
          </a:prstGeom>
          <a:noFill/>
        </p:spPr>
      </p:pic>
      <p:pic>
        <p:nvPicPr>
          <p:cNvPr id="7" name="Picture 5" descr="raio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2842543"/>
            <a:ext cx="4787900" cy="31067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Força Elétrica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565104"/>
          </a:xfrm>
        </p:spPr>
        <p:txBody>
          <a:bodyPr>
            <a:normAutofit/>
          </a:bodyPr>
          <a:lstStyle/>
          <a:p>
            <a:r>
              <a:rPr lang="pt-BR" dirty="0"/>
              <a:t>Cargas de mesmo sinal se repelem e as de sinais opostos se atraem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13</a:t>
            </a:fld>
            <a:endParaRPr lang="pt-BR"/>
          </a:p>
        </p:txBody>
      </p:sp>
      <p:grpSp>
        <p:nvGrpSpPr>
          <p:cNvPr id="39" name="Grupo 38"/>
          <p:cNvGrpSpPr/>
          <p:nvPr/>
        </p:nvGrpSpPr>
        <p:grpSpPr>
          <a:xfrm>
            <a:off x="1907704" y="2780928"/>
            <a:ext cx="4896544" cy="2808312"/>
            <a:chOff x="1403351" y="2420939"/>
            <a:chExt cx="3349022" cy="2520229"/>
          </a:xfrm>
        </p:grpSpPr>
        <p:sp>
          <p:nvSpPr>
            <p:cNvPr id="35" name="Oval 28"/>
            <p:cNvSpPr>
              <a:spLocks noChangeArrowheads="1"/>
            </p:cNvSpPr>
            <p:nvPr/>
          </p:nvSpPr>
          <p:spPr bwMode="auto">
            <a:xfrm>
              <a:off x="1523521" y="4317343"/>
              <a:ext cx="744223" cy="62382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34" name="Grupo 33"/>
            <p:cNvGrpSpPr/>
            <p:nvPr/>
          </p:nvGrpSpPr>
          <p:grpSpPr>
            <a:xfrm>
              <a:off x="1403351" y="2420939"/>
              <a:ext cx="3349022" cy="2512234"/>
              <a:chOff x="1403350" y="2420938"/>
              <a:chExt cx="4536306" cy="4353695"/>
            </a:xfrm>
          </p:grpSpPr>
          <p:sp>
            <p:nvSpPr>
              <p:cNvPr id="6" name="Text Box 22"/>
              <p:cNvSpPr txBox="1">
                <a:spLocks noChangeArrowheads="1"/>
              </p:cNvSpPr>
              <p:nvPr/>
            </p:nvSpPr>
            <p:spPr bwMode="auto">
              <a:xfrm>
                <a:off x="4429993" y="5516564"/>
                <a:ext cx="431800" cy="5867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pt-BR" sz="1600" dirty="0"/>
                  <a:t>F</a:t>
                </a:r>
              </a:p>
            </p:txBody>
          </p:sp>
          <p:sp>
            <p:nvSpPr>
              <p:cNvPr id="7" name="Line 26"/>
              <p:cNvSpPr>
                <a:spLocks noChangeShapeType="1"/>
              </p:cNvSpPr>
              <p:nvPr/>
            </p:nvSpPr>
            <p:spPr bwMode="auto">
              <a:xfrm flipH="1">
                <a:off x="4069631" y="6092825"/>
                <a:ext cx="865187" cy="1588"/>
              </a:xfrm>
              <a:prstGeom prst="line">
                <a:avLst/>
              </a:prstGeom>
              <a:noFill/>
              <a:ln w="76200">
                <a:solidFill>
                  <a:schemeClr val="accent2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Oval 4"/>
              <p:cNvSpPr>
                <a:spLocks noChangeArrowheads="1"/>
              </p:cNvSpPr>
              <p:nvPr/>
            </p:nvSpPr>
            <p:spPr bwMode="auto">
              <a:xfrm>
                <a:off x="2266950" y="2492375"/>
                <a:ext cx="1008063" cy="10810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" name="Oval 6"/>
              <p:cNvSpPr>
                <a:spLocks noChangeArrowheads="1"/>
              </p:cNvSpPr>
              <p:nvPr/>
            </p:nvSpPr>
            <p:spPr bwMode="auto">
              <a:xfrm>
                <a:off x="3779838" y="2492375"/>
                <a:ext cx="1008062" cy="10810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2" name="Text Box 10"/>
              <p:cNvSpPr txBox="1">
                <a:spLocks noChangeArrowheads="1"/>
              </p:cNvSpPr>
              <p:nvPr/>
            </p:nvSpPr>
            <p:spPr bwMode="auto">
              <a:xfrm>
                <a:off x="5146924" y="2565401"/>
                <a:ext cx="431800" cy="5867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pt-BR" sz="1600" dirty="0"/>
                  <a:t>F</a:t>
                </a:r>
              </a:p>
            </p:txBody>
          </p:sp>
          <p:sp>
            <p:nvSpPr>
              <p:cNvPr id="13" name="Text Box 11"/>
              <p:cNvSpPr txBox="1">
                <a:spLocks noChangeArrowheads="1"/>
              </p:cNvSpPr>
              <p:nvPr/>
            </p:nvSpPr>
            <p:spPr bwMode="auto">
              <a:xfrm>
                <a:off x="1690688" y="2492376"/>
                <a:ext cx="431800" cy="5867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pt-BR" sz="1600" dirty="0"/>
                  <a:t>F</a:t>
                </a:r>
              </a:p>
            </p:txBody>
          </p:sp>
          <p:sp>
            <p:nvSpPr>
              <p:cNvPr id="14" name="Text Box 12"/>
              <p:cNvSpPr txBox="1">
                <a:spLocks noChangeArrowheads="1"/>
              </p:cNvSpPr>
              <p:nvPr/>
            </p:nvSpPr>
            <p:spPr bwMode="auto">
              <a:xfrm>
                <a:off x="2482850" y="2420938"/>
                <a:ext cx="713132" cy="11009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4000" dirty="0">
                    <a:solidFill>
                      <a:schemeClr val="bg1"/>
                    </a:solidFill>
                  </a:rPr>
                  <a:t>q+</a:t>
                </a:r>
              </a:p>
            </p:txBody>
          </p:sp>
          <p:sp>
            <p:nvSpPr>
              <p:cNvPr id="15" name="Text Box 13"/>
              <p:cNvSpPr txBox="1">
                <a:spLocks noChangeArrowheads="1"/>
              </p:cNvSpPr>
              <p:nvPr/>
            </p:nvSpPr>
            <p:spPr bwMode="auto">
              <a:xfrm>
                <a:off x="3995738" y="2420938"/>
                <a:ext cx="713132" cy="11009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4000" dirty="0">
                    <a:solidFill>
                      <a:schemeClr val="bg1"/>
                    </a:solidFill>
                  </a:rPr>
                  <a:t>q+</a:t>
                </a:r>
              </a:p>
            </p:txBody>
          </p:sp>
          <p:sp>
            <p:nvSpPr>
              <p:cNvPr id="16" name="Line 14"/>
              <p:cNvSpPr>
                <a:spLocks noChangeShapeType="1"/>
              </p:cNvSpPr>
              <p:nvPr/>
            </p:nvSpPr>
            <p:spPr bwMode="auto">
              <a:xfrm>
                <a:off x="5004048" y="3141663"/>
                <a:ext cx="863600" cy="0"/>
              </a:xfrm>
              <a:prstGeom prst="line">
                <a:avLst/>
              </a:prstGeom>
              <a:noFill/>
              <a:ln w="76200">
                <a:solidFill>
                  <a:schemeClr val="accent2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Line 15"/>
              <p:cNvSpPr>
                <a:spLocks noChangeShapeType="1"/>
              </p:cNvSpPr>
              <p:nvPr/>
            </p:nvSpPr>
            <p:spPr bwMode="auto">
              <a:xfrm flipH="1">
                <a:off x="1403350" y="3068638"/>
                <a:ext cx="790575" cy="0"/>
              </a:xfrm>
              <a:prstGeom prst="line">
                <a:avLst/>
              </a:prstGeom>
              <a:noFill/>
              <a:ln w="76200">
                <a:solidFill>
                  <a:schemeClr val="accent2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Text Box 23"/>
              <p:cNvSpPr txBox="1">
                <a:spLocks noChangeArrowheads="1"/>
              </p:cNvSpPr>
              <p:nvPr/>
            </p:nvSpPr>
            <p:spPr bwMode="auto">
              <a:xfrm>
                <a:off x="2555156" y="5518149"/>
                <a:ext cx="431800" cy="5867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pt-BR" sz="1600" dirty="0"/>
                  <a:t>F</a:t>
                </a:r>
              </a:p>
            </p:txBody>
          </p:sp>
          <p:sp>
            <p:nvSpPr>
              <p:cNvPr id="21" name="Text Box 24"/>
              <p:cNvSpPr txBox="1">
                <a:spLocks noChangeArrowheads="1"/>
              </p:cNvSpPr>
              <p:nvPr/>
            </p:nvSpPr>
            <p:spPr bwMode="auto">
              <a:xfrm>
                <a:off x="1736902" y="5673713"/>
                <a:ext cx="713132" cy="11009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4000" dirty="0">
                    <a:solidFill>
                      <a:schemeClr val="bg1"/>
                    </a:solidFill>
                  </a:rPr>
                  <a:t>q+</a:t>
                </a:r>
              </a:p>
            </p:txBody>
          </p:sp>
          <p:sp>
            <p:nvSpPr>
              <p:cNvPr id="23" name="Line 27"/>
              <p:cNvSpPr>
                <a:spLocks noChangeShapeType="1"/>
              </p:cNvSpPr>
              <p:nvPr/>
            </p:nvSpPr>
            <p:spPr bwMode="auto">
              <a:xfrm>
                <a:off x="2483718" y="6094413"/>
                <a:ext cx="720725" cy="1587"/>
              </a:xfrm>
              <a:prstGeom prst="line">
                <a:avLst/>
              </a:prstGeom>
              <a:noFill/>
              <a:ln w="76200">
                <a:solidFill>
                  <a:schemeClr val="accent2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" name="Oval 28"/>
              <p:cNvSpPr>
                <a:spLocks noChangeArrowheads="1"/>
              </p:cNvSpPr>
              <p:nvPr/>
            </p:nvSpPr>
            <p:spPr bwMode="auto">
              <a:xfrm>
                <a:off x="2411413" y="4003675"/>
                <a:ext cx="1008062" cy="10810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6" name="Oval 30"/>
              <p:cNvSpPr>
                <a:spLocks noChangeArrowheads="1"/>
              </p:cNvSpPr>
              <p:nvPr/>
            </p:nvSpPr>
            <p:spPr bwMode="auto">
              <a:xfrm>
                <a:off x="3852863" y="4002088"/>
                <a:ext cx="1008062" cy="108108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8" name="Text Box 34"/>
              <p:cNvSpPr txBox="1">
                <a:spLocks noChangeArrowheads="1"/>
              </p:cNvSpPr>
              <p:nvPr/>
            </p:nvSpPr>
            <p:spPr bwMode="auto">
              <a:xfrm>
                <a:off x="5218931" y="4076700"/>
                <a:ext cx="431800" cy="5867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pt-BR" sz="1600" dirty="0"/>
                  <a:t>F</a:t>
                </a:r>
              </a:p>
            </p:txBody>
          </p:sp>
          <p:sp>
            <p:nvSpPr>
              <p:cNvPr id="29" name="Text Box 35"/>
              <p:cNvSpPr txBox="1">
                <a:spLocks noChangeArrowheads="1"/>
              </p:cNvSpPr>
              <p:nvPr/>
            </p:nvSpPr>
            <p:spPr bwMode="auto">
              <a:xfrm>
                <a:off x="1835150" y="4003675"/>
                <a:ext cx="431800" cy="5867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pt-BR" sz="1600" dirty="0"/>
                  <a:t>F</a:t>
                </a:r>
              </a:p>
            </p:txBody>
          </p:sp>
          <p:sp>
            <p:nvSpPr>
              <p:cNvPr id="30" name="Text Box 36"/>
              <p:cNvSpPr txBox="1">
                <a:spLocks noChangeArrowheads="1"/>
              </p:cNvSpPr>
              <p:nvPr/>
            </p:nvSpPr>
            <p:spPr bwMode="auto">
              <a:xfrm>
                <a:off x="4005055" y="3881897"/>
                <a:ext cx="733814" cy="11009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pt-BR" sz="4000" dirty="0">
                    <a:solidFill>
                      <a:schemeClr val="bg1"/>
                    </a:solidFill>
                  </a:rPr>
                  <a:t>q-</a:t>
                </a:r>
              </a:p>
            </p:txBody>
          </p:sp>
          <p:sp>
            <p:nvSpPr>
              <p:cNvPr id="31" name="Line 37"/>
              <p:cNvSpPr>
                <a:spLocks noChangeShapeType="1"/>
              </p:cNvSpPr>
              <p:nvPr/>
            </p:nvSpPr>
            <p:spPr bwMode="auto">
              <a:xfrm>
                <a:off x="5076056" y="4652963"/>
                <a:ext cx="863600" cy="0"/>
              </a:xfrm>
              <a:prstGeom prst="line">
                <a:avLst/>
              </a:prstGeom>
              <a:noFill/>
              <a:ln w="76200">
                <a:solidFill>
                  <a:schemeClr val="accent2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Line 38"/>
              <p:cNvSpPr>
                <a:spLocks noChangeShapeType="1"/>
              </p:cNvSpPr>
              <p:nvPr/>
            </p:nvSpPr>
            <p:spPr bwMode="auto">
              <a:xfrm flipH="1">
                <a:off x="1547813" y="4579938"/>
                <a:ext cx="790575" cy="0"/>
              </a:xfrm>
              <a:prstGeom prst="line">
                <a:avLst/>
              </a:prstGeom>
              <a:noFill/>
              <a:ln w="76200">
                <a:solidFill>
                  <a:schemeClr val="accent2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Text Box 39"/>
              <p:cNvSpPr txBox="1">
                <a:spLocks noChangeArrowheads="1"/>
              </p:cNvSpPr>
              <p:nvPr/>
            </p:nvSpPr>
            <p:spPr bwMode="auto">
              <a:xfrm>
                <a:off x="2537427" y="3881897"/>
                <a:ext cx="755756" cy="11009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pt-BR" sz="4000" dirty="0">
                    <a:solidFill>
                      <a:schemeClr val="bg1"/>
                    </a:solidFill>
                  </a:rPr>
                  <a:t>q-</a:t>
                </a:r>
              </a:p>
            </p:txBody>
          </p:sp>
        </p:grpSp>
        <p:sp>
          <p:nvSpPr>
            <p:cNvPr id="37" name="Oval 30"/>
            <p:cNvSpPr>
              <a:spLocks noChangeArrowheads="1"/>
            </p:cNvSpPr>
            <p:nvPr/>
          </p:nvSpPr>
          <p:spPr bwMode="auto">
            <a:xfrm>
              <a:off x="3995936" y="4317343"/>
              <a:ext cx="744223" cy="62382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8" name="Text Box 36"/>
            <p:cNvSpPr txBox="1">
              <a:spLocks noChangeArrowheads="1"/>
            </p:cNvSpPr>
            <p:nvPr/>
          </p:nvSpPr>
          <p:spPr bwMode="auto">
            <a:xfrm>
              <a:off x="4161370" y="4230334"/>
              <a:ext cx="492503" cy="635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pt-BR" sz="4000" dirty="0">
                  <a:solidFill>
                    <a:schemeClr val="bg1"/>
                  </a:solidFill>
                </a:rPr>
                <a:t>q-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Força Elétrica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 força de atração ou repulsão que atua entre duas cargas elétricas obedece a Lei de Coulomb:</a:t>
            </a:r>
          </a:p>
          <a:p>
            <a:pPr marL="954723" lvl="2" indent="0" eaLnBrk="0" hangingPunct="0"/>
            <a:r>
              <a:rPr lang="pt-BR" sz="2000" dirty="0"/>
              <a:t> A intensidade da força elétrica é diretamente proporcional ao produto das cargas elétricas.</a:t>
            </a:r>
          </a:p>
          <a:p>
            <a:pPr marL="954723" lvl="2" indent="0" eaLnBrk="0" hangingPunct="0"/>
            <a:r>
              <a:rPr lang="pt-BR" sz="2000" dirty="0"/>
              <a:t>  A intensidade da força elétrica é inversamente proporcional ao quadrado da distância entre os corpos.</a:t>
            </a:r>
          </a:p>
          <a:p>
            <a:pPr marL="954723" lvl="2" indent="0" eaLnBrk="0" hangingPunct="0">
              <a:buNone/>
            </a:pPr>
            <a:endParaRPr lang="pt-BR" sz="2000" dirty="0"/>
          </a:p>
          <a:p>
            <a:pPr marL="954723" lvl="2" indent="0" eaLnBrk="0" hangingPunct="0">
              <a:buNone/>
            </a:pPr>
            <a:endParaRPr lang="pt-BR" sz="2000" dirty="0"/>
          </a:p>
          <a:p>
            <a:endParaRPr lang="pt-BR" dirty="0"/>
          </a:p>
          <a:p>
            <a:pPr lvl="2"/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14</a:t>
            </a:fld>
            <a:endParaRPr lang="pt-BR"/>
          </a:p>
        </p:txBody>
      </p:sp>
      <p:pic>
        <p:nvPicPr>
          <p:cNvPr id="6" name="Picture 5" descr="forcaeletric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20072" y="4365104"/>
            <a:ext cx="2519363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3760981"/>
            <a:ext cx="3672408" cy="240432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Campo Elétrico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332856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Um campo elétrico é o campo de força provocado pela ação de cargas elétricas (elétrons, prótons ou íons) ou por sistemas delas. </a:t>
            </a:r>
          </a:p>
          <a:p>
            <a:pPr lvl="2"/>
            <a:r>
              <a:rPr lang="pt-BR" dirty="0"/>
              <a:t>Cargas elétricas colocadas num campo elétrico estão sujeitas à ação de forças elétricas, de atração e repulsão.</a:t>
            </a:r>
          </a:p>
          <a:p>
            <a:pPr lvl="2"/>
            <a:r>
              <a:rPr lang="pt-BR" dirty="0"/>
              <a:t>A fórmula usada para se calcular a intensidade do vetor campo elétrico (E) é dada pela relação entre a força elétrica (F) e a carga de prova (q):</a:t>
            </a:r>
          </a:p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15</a:t>
            </a:fld>
            <a:endParaRPr lang="pt-BR"/>
          </a:p>
        </p:txBody>
      </p:sp>
      <p:pic>
        <p:nvPicPr>
          <p:cNvPr id="1026" name="Picture 2" descr="\mathbf{E}=\frac{\mathbf{F}}{|q|}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4581128"/>
            <a:ext cx="1202217" cy="864096"/>
          </a:xfrm>
          <a:prstGeom prst="rect">
            <a:avLst/>
          </a:prstGeom>
          <a:noFill/>
        </p:spPr>
      </p:pic>
      <p:pic>
        <p:nvPicPr>
          <p:cNvPr id="1028" name="Picture 4" descr="reproduçã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3933056"/>
            <a:ext cx="3524250" cy="21050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Campo Elétrico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Capacitores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16</a:t>
            </a:fld>
            <a:endParaRPr lang="pt-BR"/>
          </a:p>
        </p:txBody>
      </p:sp>
      <p:pic>
        <p:nvPicPr>
          <p:cNvPr id="23556" name="Picture 4" descr="http://www.china-capacitores.com/images/China-capacitores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6056" y="1556792"/>
            <a:ext cx="3600400" cy="2880320"/>
          </a:xfrm>
          <a:prstGeom prst="rect">
            <a:avLst/>
          </a:prstGeom>
          <a:noFill/>
        </p:spPr>
      </p:pic>
      <p:pic>
        <p:nvPicPr>
          <p:cNvPr id="23560" name="Picture 8" descr="C = \frac{Q}{\Delta V}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23727" y="2204864"/>
            <a:ext cx="1299653" cy="720080"/>
          </a:xfrm>
          <a:prstGeom prst="rect">
            <a:avLst/>
          </a:prstGeom>
          <a:noFill/>
        </p:spPr>
      </p:pic>
      <p:sp>
        <p:nvSpPr>
          <p:cNvPr id="23564" name="AutoShape 12" descr="data:image/jpeg;base64,/9j/4AAQSkZJRgABAQAAAQABAAD/2wCEAAkGBhQSERUUExQVFRQUGBwaGBcYGBoZGBweHBsYHBoYFxwcHCYfHBwjGhsdHy8gIycpLCwsHB8xNTAqNSYrLSkBCQoKDgwOGg8PGiwkHyQsLCwsKiw0LCwsLCwsLCwsLCwsLCkpLCwsLCwsLCwsLCwsLCwsLCwsLCwsLCwsKSwsLP/AABEIAMIBAwMBIgACEQEDEQH/xAAcAAACAgMBAQAAAAAAAAAAAAAFBgMEAAIHAQj/xABAEAACAQIEAwYDBgQEBwEBAQABAhEDIQAEEjEFQVEGEyJhcYEykaEHQlKxwfAUI2LRM1Ny4RVjgpKi0vFDJBb/xAAZAQADAQEBAAAAAAAAAAAAAAABAgMEAAX/xAAuEQACAgICAQMCBQMFAAAAAAAAAQIRAyESMUEEE1EisRQyYdHwgZGhM1JxweH/2gAMAwEAAhEDEQA/AAead+5JI0pqXVe53hR6+WPOHVQUBG5Jt/f2xT48S2mPhvA/XFbJ1fCR5/n/APMURLsP1MxpgSCT543ptPOcVFKaQoAdvMW9/LFukQoB6fvbDCl3LJLBZuTEc/liTtBxAd2KNN4idR6xyH+2Bx4kKYJVYY3LT9MVOF5N8xUuTBtqOwAvib2x1pFHPtARZ3vH/iP1xLk2IR35qmn3k/oPriLjFUfxDR8KHSLz8NvfxSZ88ZnqxTLFhbvGJ/QfqcCD1YGUeB8KFQPUlpUMf8MsJsBfVAFzflHnhry2QZEqNUUytEADSYHeMArGGGklBIkHfbEXYfO1atGpSIXuFpu1R1pgMdA1BA4vDQBG98FM+rEVXNAU0YU28LUzo5JsNQBHKbm5F8K6JJJ7F2rkhuN8dZ+zvJ6Mgn9bO/8A5aR9FGOV1KmkEnkJx23gVDRlqKxEU1t0JAJHzJxGW0WwrdmvH8m9WkEps6kupJQqGgT+JgI254j4HTZUKM7PpYjxaCw2MEo7decHBaMaBIE+X98LRpsrqdvb82P4v3+WiRb26fhJ6+eN4IHt58k9Op/fLZRcDz8+i+f7+uAzhC4n9reToV6tB0qaqTshI0wSvgJHh8v3tjRftmyB/wA0b8l5x5+WFHiXCC9bMuMrl6uvM1fGzaX6xsZF5nFat2WUPWIyVNiumUSrApyQCQYhhIjlc46kJz6/Uf0+1/h5P+JUHqq9Z/H7Yt5H7SshVdEWsdTsqqCpuSSALMebD97cvbskmtSck0mmW7pa0sbPDg7cpjopxtwjs7SFeg5y1WiVqagzVJBKFGAA8ufqMdSO59s7pVpxI6CP/A9T5Yiqc9ufT+g+f79sWa/xH1HXo2IGa3t5/wCX/q8v3vhGUQh9qacZxiJHiQz4+aL8MEDVM2/vhPzdFQr2pgq/Jm1xGwUm4ne0g4cu2zKM1JgaqaNMKTYsDvPTlhS4hp1VRqTcEDTJN9gwEWFydjjRHpGDLqTAdQXx4VtzxaNPGpTBohRHl8yyBtMeIRMeJbi6sLg2j0JxR4jmSxpyB4AF1R4yAT8TfeMGJPIDpi+KYxSz6eHHJ0NbVFnN0h3ovCmGJ8ov+uClCpNKpp1HSVaACWIkqY9mB9sCa510qXUjST7jF/hVVFdfFAGrckAkggAxuNRHyxxsavsuZNVqKppkmRfaJ8o8uuL3ZVNNYo2wcoRP3ao/9j9MV8vwmZq0G0Vw0Fd1b/VyM3uLz13EeR4g38U4YaajLcb+JCCCp6QThUxUvIxZjL1mYmmCqTCjyFv0xmC2aeuzaqYBRgCLDmoP548x1laObcYrzSVhzMYq8IBNTTyZSDz6HHuergUUp7tIb2vjfg4ioh8/zxrRAP5XJaZ+mLS0sb6cbHHAKNbJjnJk3i3tGLWTy0B3ZiUpoWjYQOUeuJqdKeWNOOnuss4nxVIU+kzH0xKbpDxExalmJ3I+pxtx2uwFOkI8EC8RMSd/U4npUgSo5lx8ok4HcbbvK3sDETuf3tg9IWb0N/ZSnoyGYqW/minRUCd2Ys0m1yKf1wYzmWNQldSw1QqGFEKB3SKWOqkrSo+HSpN/Eb4oVqBp8LoJBHeNUqczIVVpg+W7m+C2dAGZrhadM6HYxLqSCsFDocQtwdhJN7YzSzVlWOu03/Zpf9gjG43/ADYuUsozuqKQC7BQeVyLj547oqxjlPZGKuZop3SsEJMy8iGVtZGqJGkCAAL3BjHVmqBRLEKOpIA+ZwWWxLTA3GONV6dUU6WWasukFmXkSWEb9BPvgipDLr0spK7MCGFtit7z5HGme4dSqAsadNnIADsiufLcXHljZcvpphbW0rZYFiBZQCAPLYdRvhCxrXIAJMAeK5sPuqPu/vz5TUvj92/NR08sCON0wVSQCC5Nx1WseajoP99za4VUHdUj/wAtf/I2+oxFZbySx10k/wC7f7HUcrzHZlaxNZwrio9RQJgghhcz1B5YmzfZeNSNpdaLgMFYgtIa4uLSIM88M1f7OaLmRms0hJnw1FVfEYELsCSInnGJMz2EVwQuczCSQZVllrkDWdXj8U+84s2jP7T12J7dmnRCin4qZqAiodQSTKg6p1RI0ztPrjMjwdqLrUlyjFgoZyxBAUtYkkevPDavYJgsLna2rTp7whS8HUIF4gyViOuIMv8AZ9WU+LOGqBqgPTiCwCyCvO3PHaB7cqfY7V18ZtzXl/rH4f1+XOugNh/p8vusOgxZrCWmPw8v6j/SevX5b4gpr8P/AEeX3mHQYRo1ih22pA1KZJv3AYRc2qCTEibMbX95wr8QhHqoXPwkagNeqIKq0mFBmSRcEEEYbu2oANFrSadRJkzEobETzwoZh/Gml2QNTghDYCPhMkbgeIdYtjRD8qMOb8zALrjTuzBO3LY3PSdpi+LKUZGK6i9xPvGCzOjVkgHqDyuD77YG542OCRW2KGdSxwAs0yVacuRzVgR6GcbZKt3ZUySVIPvM4r8IIIdOqmPUQR9Mb5cbz15YZGtbSG3JaEqtLwNVgFJME2PSNP6Yi45lSmZoVUkrr8UbQw0sfYH6DFGqxPdt+JF+ayn5KPngnVD1kSkuqXdVt6gmfKLkeWE8iRfg6DwB/wD+dJWY1Cb/AImjn0xmC+RK06aoPuj/AO/XGY7iaLPneCXWfwj9YwTyzaXQ9CMZWya1MwwQgFADp6mOXzxFXYixEEfPGtGdjicRUMwrk6WViN4IMesY8eoTT1LclZHrFvrhLynFdDrplGRpGofFyv7WieZwrew15OkUV0g9Thb7S5wnu1Ij4mj5AT9cHKOepuAQ6iQCASAb+Rwr8erhq7GfCIXVygAXHuTiL7HKVBlFQtMjRPuRER7/ACxb4PlcvUzCLmai0l0glmJFriBCm9ueANDNqG/qJja0ACLzzPKOW98G0yBrVKTLpGmbttbxD6g/PD2TkqQ1Va7NQKrWYUyaopqdcCnTBYT4diNMRzN4xY46zmvmFDKoNUj7uo/4cxLAm5X6YF1qbuhFJq+oB1KmWlXksUCO3hYrdedjESQS4+1Rc3Uk1VRqxj4lGkCnrKXAbdb9QBNjjzJzh+LgrV8ZfeA0VUHfz+4d+z+pUeu+p9Xcro+7cDUF5SYk3nnecPObySVU0VUV0JB0sJEqQymPIgH2xyDhvHGyU1KBX+Z4CKijWIvsGsPeTEwLYID7Vsz+Cif+lv0fGtspjpI6m4+EeYxC9UHSYI8Q+KOQJnn/AHwgcO+0bMVKoJoo6AGUVlS/Iy7T7CR6YO0+31EAfxFKrRa8KDrBERMofW3lOFspZb4mRpp7fEv4f8mueXrixws/yqN/uUeY6E/j/v8A9Q2E1u0lDM6Fo96xDySUfSP5NUQSdp84k9TiTJ9r8oioj1KiOi05V0qA2QRbTIF+cGfrhhOL9VNWr4x+8xvAYotOm5+5zPNmP+YeXr7iw9pyY3+5+L8Z8zy/cYGHtNldM066nRpJDB5hbCAE1EyeQ87Xxpw/tFRqsEp1aLMNNvEvwy3OlA/cRjYCwsqm1j93k3+YT+H9+XxY1UbW/Dy/5p/5f78vixqitaBSMadmH3WLf5fn7b4xc1SFmrUVcQCpdZBDaiPiB8tv7Y4J6CPLl0/zfQc/2TjFYdRy5jlVI/EOv6XNsR5vidCkoL16QBMA6ib6i0eFjyBH+1sbZPP068ijWRyBfSzWl5E36Aj6WGOo6wD2zWadHmNbi8Hp/q6Hn8tgpZjJmaMawdBM0/jUJIk6Wu5ECbCOmHLt7QIoIxi1Y3JEeIPF2I8ueFHL5lVWi5d1XVUUlIZjAMyAzSoBtAMqxPU4vDox5vzAA5Yi5mCJXl6HzHpim6xi7mawvF7mCPhIvtz/ANsUahnDsznhW2KWZS2LxxUzIMYRnMHcOEVff85GJaVI94wOwG/vitTaHnzH++CWZI7yJhWgix5i1t7nBXRqx/lReoGaI/ocj/uAI+qn54duxGRBU12+Gn4U6liPEfUC3ucI3DklaisY8BaYmNEsbSPu68N3Zjjoo02Uy9CpcFY1KQIJWbcoIPP3kPTAtSdjj/GofvfPGYTa32h5RGKlXJW19M+8Tf3xmDbKcoiBlc143fZmc/mbYOFFrIC1j1wvZj+W7rF9Z/M4OcCpT4mO+wxe9E2hkyPDSMup1oWFiplSLmIkQ1o2OEftNw006knZ7iNp5/398PVNZBBMAX3tgVxzLCtRZQhLAgo3pMgDzn6DCMZCXS4vVRdIZSBtqRGPzInHma41UcaW0R5Iq/kMZRqqtmti0KlJgApABNzfYkX25dMCrDYHAJv57+YvH+2GzgWbLUWgE6CGkbrezdbMN8TdqWy7UkbLlQ1M6dISJQqVvKwSLXN/EcDuyXEFo5gCpam3hY9A1iduWOqmc/kbeC8ZK18uzFyy1SajMSUIqHRIiwIDEmw2wf7Y51GzNQMSO5RFEMkAsdT6lZSbqVgiBIwhLnGKBCtwCLjntqHrE4N0eI1MxWY628ZLsFUBgQskDmQuwJMWBx5mT0Sl62HqfiLX9b1/hyCm1Bx/U9z1WmdSiCuoKNdSj4lN+SadiB5T1sFXMZPQ8GnTuJEpSJiSBIUEC4Np/MYdeHd4RThFqq7NU1BaHJArDQ4khQSNLEKSJHI4HJlBUqNMxzmJtaLWAnYDlGN0tGebpA3J8LVlEokm9lA/KMEqPCKYQFkIGsglS82QkbPHxEfLBDuYEDBAUgVGnVqAIcsoZZtp03MAKNziKbZnjJvdk3YVRQzTU4Ze9prYliJVVaZZiQTre3QYCcQo069d6zPUAqVRLAuIWHAhQ1/CqX9cXc9UKOXyxY6ZKa7GSmlpIJiNTR6DGmVzFXQab06SqNLBk18pXTDgEWO46YwY/SKHq5+o/wB0Uvvf2ia/cbxKPLaZTyfBVlf5tZGhSIYzdAWIaLXMe2J6mQdqYDZrMMJXUrPqUHSWMg0zPiGnaxGLdTi1VSAMujimAslyrNvYDu/wnTHlib/iDjW3datbOe7krd9rlYhLTj0dCXLX1AUdnhqA78iSoFkvOqSP5fkBcjcYgXhEqp/iEvomQvh1CTq2iNvUHBpuKVGADUdDKbMXDiCoECBFiPyxHV49TV4OXqMsqKrKUOsiQxWW1QQxggefTHWH6rrkgfluD1A2kVaDSF+KkjgyX+EMxkjTy6gYjqcOrOqEHLCSohKaUzLEDxaGERI+LaTgzRJKBgKf8txCHTrMzECZYCAT643zOXjxaKf81TYgEjTK3A+E8/PfHCPJJC7TSrR1aqmhgUshIMGJi97Ny97DB40Kq1H7tqjGnWYbh2UIGI1RqBmNtpUxO+BeZ/loWQ0kPhGqoC1pmFUegk8hb72J6GmzHRL5hJ01RDIygnQpExaJmAYGKR60cpOS5FXNcIqO8AEuROkwDOvSRaw3DcrHFHN8Lq0hL0yBIvII3YRIkbqflg5VNF6rVKNcUEKMEFZQZsqkbtDTcGbRMjHoyA7pV79GFRdXiYsylo8BLSbayY2scFuhZaVgqrwZ1ph2ESSBsRIbTEg7z5dPYVnKAFNm7ynZQxXV4rmNABF3HMdCDhoICAqGVAyGnFJTUXlBAfbWwvG0yPJfqZ1itOkuouVamylUiGcOiqbk3vJgjaYwVTHS5aQv1FgRvznEGdzNlJFxpEAxtc4YuO8CGWVdT6qjX0gQAOZvfe3LnhSrNqb6DB/Q0LWkNfZXMLVql3WBDyJtdSCCepUlfVhjdODqK50islNhqIWr4Z0hmHwdQR8uuFWhmHp/CSvO2JV7Q1wfjmOqj69cEVxsOnK5dSV01DBInvEv5/Bzx5hWrV3dizEyxk8voLY9wKR3CIy8Tyv89yATLtbrc4u8MqMrSwaByI/KP7YI5rJjvqrHmbfLFV6c2xQIRpVxUIkALsAAQTz8U7m8egHrgt3aAKFQhhuwYkGOZU8/Qx5YB8MM1Iwdpm5N7YDCkc77XZAUquofBUJI8jNx5XwCp1wNgPrjoPa3JCpRK21FpU8xpWbepePbyxzxaDaSYIvHlicZHJplgZ7qBb1x6eIKYjcc/wB8sH+y32b184neuwo0Z+IiWbqUUR8yYwwcV+xXu6T1KNZ6lREZgkL4iBOm1wTy88NT7Cvgl7I9kHztNaldnpUVMaUiXI3hoso2J6zYRJZK/wBldAUZy7VKdYKYYuSGN7NtAItIt5HBv7LKqfwFGnKs6g8yRBYtadrMLD15zhg4znxl8u7KDUdVJVBeTymNln6YTlu70Px8UcV4Pnv5XiZRpBVlKId7SQV+K4gzvHpgjwfhObzTM9BKVKkxP8ypGkwb92qfdBtaRbfCTxCrTGZWmvwgfzBr1qCwuVOkEMFkXmDzMY+juHcIAFlCqD4YAFuW3KMNqSuhJY10zl/Fchm8kQ1dUqUrTVpSAsmBqna/Ix64zPceJCL3Ks0aVVSwLG5OoE3mRtG4jljo3bhVTIZovGnuWEeZEJ/5kR54+esjxgrnaDElu6NPwzuUYEATYeEBfYY7hHwJ7cV4OuUewwqEvm69Q1HklaTd1RQn7qBRcARcm8Yp9ouyD5Wk2YoVajU1INSlVPeQo+9Tcy4iZidp3jHQ14ZSqpKyC0HVfULgkXMqSLeWFrt9m6eWydSit6uYU06aTLNqsXN5gAkybTAwN3tKv5+hVxi1rsA/8UpHSVQ6QFBVXENpN5Mfe9+WNKfEqKvUbS0NOgKR4Lz0AMC0Y5JnOLZii2harIukEKCIgix26CcEshkuLV1D0qWYqJyPdAqfTUsH2weKJcUjpfEOIUnpwurXq+I2sR8MesGb4g4pm6aaTTGo1CFSg1ncjTI1gEgaiIAk3AHUcuzvGM/l20VddJ/wvSVT6wU+owd7I8br/wAVlK1aXQvaEFwj+MKAN1BDQL4VwR3CLY90+w+cI1Vc1TpsZbu0pCoq2JKlnYkmPUeZxVz3Dq+XZUrBGDzoqoIVzvo0/dexIFpvBJgY62MmpHXz/XCP9p9RBkWDNpZqlMJaW1BwwIEg2ANwcPxh5Rzxp6oT6yBvCYvsOvpiOhwldaAnTEwWJ0rYsCeg1RsOeE2r26rIdBSm2nwhvEpMW6/piVPtKqAQaKH0dgfywigl5JLAo+TpX8eKtVandUD3lP8AwzUssHmWjS0cueBudz6UaFLXRQGWUENrapDn7qiQbRO1/MYSF+0QsQP4eTsAH5k2jwb8sPf2U1EzGcruV8aJ4ZMgQ0NHzEHzJxziOsKfbBPEKOZdNa5SrSp38RRgInn+EDaT77YH8MDUayVaiHQgYnabowBW/iEnfaL4+gdBQFiJEXxw77Y8mUqJVojQjB9SAWkQSwEmJmTEXk8yTVRjQ0Y8ehV7TcZNeq7Tvb0A2Ue36nniHhNWilOp3isajABCAIWGBJ3mTEenrhebOHEtPiDj09BhRw/meJIbWPkcC81mA9xt8sQHPAm4v6YM9nuEivqbxSv+Gqi5YkeI9FWQSepXzwAN0ZlezqlAXq6WIkrEx059MZhhz1As8ilVYaVGoooJhVGojU1zE7nHmBxb8knJhfOqAxk+f0wPaHmOWDPFKQLsDyOFqjkWSpUvAgwTzO8QMU8FPITyVPQ4JIvb/wC4Nm49cAeFjVT1OJksJFtjEifP8sEquZjw/eCkx7b/ADjCy0Hwa5vhdSoquig01Uy2pQAdTEzLWgQP+nAXi3ZxatCkrGsrtULQGVqTKAbqoeCeWoTzHIYJ1OJItBlXvDUNPuwLaJJuVAM6ixN45jGcRqUxUQuHISk9AQI0uutRaQdRBDEyPMYnFV0QjV2dOy+TppTRFA0Kq6YIiIt/e2JKChT6kQJA6xN/9tsc74L2pqUaGmrTWp3R0EGQQYkAMLi3I8wY2OB3HPtBqurJRppQkQWWWqRzhm+H2E41p41G7JuWdy1FV83/AOHnaHj38Hn8x/BMoBjvFAlRUDNqAG15DW5sec4V+0nbjN5hDTep4DBhQFuCCNr2IwEydfuq0ESrb/v0xvxXLFWI5cvMEWOPNnCLmpnq4ZvjxBWRqxUBJ3tPny+uO6djvtTGXyy084YKgCmwEykCASOYuPbHBayYPLX77Jz96i0H/S23yafmMXm246dEoUnsfftJ+0tM6iUqBbSry0iFNoFpvHn1OOViqSXJudQYnnuQT82GN0fEJq6WccnUjbzDD6gYGO1puw5K8D9wP7Vc3l6K05WoEEAvJaOQmZgCw6DFLinbetm6tNqxVVUmdIizRqnmRbbCsBYegxKvwn0xLhFT5eSjyPhR1DsxwihmeJkOqVBRUHUIZWKhRY7EAn8sdcJKyeVrdP7Y+eewHav+CrUHK6kLVFqAfEVYr8yCARjt+W4pTqqDRqUaixbxww8mVmBB8sehig5nmZcyxq3ZP2o4HRzmWenmElQCVb7yECzodx5jmJBxynMZmnluC0XpHTUNcmmZ8ashYsVO4sYPUNffDR227aLQy9REek1WoNAVDqibEkhiAYPXHGGr6nrHZZYqJsBMflhcsPbdMbBlWZWrR0Lgv25V0pkVqSuZs1Pwco8QJImRMiMaHtd/xCoWqU9NHLo1SoSxZmUbIxPJn0jrJEROOahYAxbFcorgEgaIIBsSxGkN1Agt6qMYuCc7N7yNQPoTsR2No5Sir92r16niqVSAWJbxHSY8Ki9hHng9xjs5ls4mivRRweoAYeasPEp9DgV2D7SLmsnSZWHeKgFRIJYEWmPwmN8HH4gqAkkgbm0AfM2xujBtaRgyZ8eN1JnAOJfZ5/C8UahqLUkUVUY7lTIUGPvAgj1WeeDPCu0NHhmdNVlPjXxBfuGwBXlBQQR5DbcDu3P2jNU4mamVghE7sa1DA73j1JjCXna71Kh1sWMyxPNtz9be2JZFVp6Zoxu6a6Ppyh2+ylSkKi1FIYAxKg35EEgg+RwjZ9V4lmGQCctT+IqxAbUD4CwtJIuBsBMg78ZJA35Y619kHaFa+Xq5eFWpShkW/jXTDE8y2q5/1W2xCHOT29GjJxgtLZ7W+y7IVV8KvRbkVZm+YaQeuEDiPYTM0s6MqsRVnQ6yFZfvE87DdSTyx2+tWUkEkCP9X1t+/wAgXaPtBSy4y9UwWSsBpUEShVg8T5afpjdPDNRumedD1GOUlHkhdyv2a5WlC1Aapi7SRfoADtghmOxiIoagfCFhqZ5ryIYCbG8GQcNNZqelatFg9GoJVwpPO6noeUG4j5QpnEWBJjn4eXrM2w8PTynG0hcnqMcZcZSQo8E4YatBHiJm3eBdmI2i22PMA+JZpFquEQMuokG3MzGx2mPbGYxOFOiqyRrpDPxovBYi4ETFp3vhdp5gtV0kQNMid5BHyscHe0+aLUjc3sYO+A3B8o7wx8TkMzEm5kEwCTv5Ysuij7COVW2/hGIa1WQxO8x8/wD5iQNCfIYmyNIsHOoIFUsZCNIWwEP18W0+mJzdoWXRTyNGnGqpAVXSdRAQgtJDSQZ0gkATtfEy5Gm7UdNWiB3jFwtQaiGcNCnSDqiR8t8QdsaiVKFKmoUA/E1MKuooANUhRN3Igi0HGcMy9U5ajS/h17qpVDivEvpQhWGqbC354C0iSdKkX6PDxUerNRW7wfEXljUDSVbcajMaiRNrAGy9mciKRbWG1LuIgj1B2wWasDUsoUaGdgIAJZgJIA6JHM2xZp9oKDU01rmCQLx3TDc/DrutosMI7uh8cndUc7znDy/jIhRt1Yi8D9TsPWME6XC2rooJUaZGq5YjlIFpA/q54Yc4tGuGFJaxqCnUaamknwhSAoBOw14rrUSiByQbedhz/XEW3fEtJuEeXllPKdj8v94M/q0D5LGDuS7N5ZFIWioDCGu1xYwfF5DAM9pqam0tjcduVH/5n5nDb8mNub2X812TyvKkB6Mw/XArMdiqe9NoP9YDD52IxY//ANsh3Qj9+mLWX4/RfZoPnjthjPJF2Led7Mk5R66MoFEhXQ8tTESp6aiLHrgEpheRJtYz9cdCpGmMhVpvepmaqaF/oQ3byBJif6fLApezlEONFRHVgGplw0MG+FoAIBF1KsSAymZGFi/k3zf08n8C5kcqypSLfDrLHy1adJPkQpwdrZFnY9AcE04TpBYsjzIYEtBk/elQTtYiDMEbYlTsrVZdVNKy03AKeFnEzBuCBHtPI4q5eTPGVi3xCjdFW+lp8oHM9BgRw6l4HDWeIg7m8H38sPy9kK5WBRqQY1EqZPqTAUT90eUk2wO4h2ZWoFMEVeseFwJEkdQB8Q6GQTcjmqoHNJ7FWnTg+IQB1xp/DM5DfddjH/Tafr+eDtHssAZZ9Sk+HQDLDzLDw+wY+mCWW4UWPwnRYeEGFiylTB2nzkEzvOFi0tjzyrpEXdvTVTTLKVsCpIYdbi4xDxPj+aekQ1aq5gwC5PL+2CTI6SNwBba+1oJlfS46Yo1MhIO+q1xstxYf+0eQEScVjkcVqRHIsb20mKHB1OovE6b/AO/tjc5rSwbnM3/XDHnOx1UvNJQAIMSRfnptC7gwSI5HbEvDezGhVq111VHqMlOkxtKCWZiN7wAAd2F8TnJds14fqdpi8mSas0TE3YgfQYYOGcBrUXR8vUKMDOoyjKfaZH7IwX4BR/iBmTFNXpqKiqqhbLOtVAEbQfODi3TqjE+bWkT9ROkmvPkPZfimZZf5tSi7fiFKD6nxQflgLxfgH8TUD1aznTZQAoVfQRz64nXilNReoo/fljRu0WXH/wCgxd+oyyjxbdHlrGoy5xWyHLZHNZOTlcxKndGXSD/5FZ9Yxme4nnKlKD9+FIUBT4iQBG5mCPPFocaouLVBi/TzK1EXL1ApV1YUX0+KnVJcjxD7jAjnIaMGGacFSbovjxrNKpxV+HSsUaHGyohtGqWJmgjGSxJvI5naLbYzEDcLeTyubPOrc7xaeeMw30j82tDBxAMyHWZKsD06gze+B/CAVpkR94x78zgp2hQL4h96xHW8z5QBiplqRCL/AFXH1OK+DSWnYkBZ9ce0nIqinqCq5CsTEATJMkgDnzGNqSsYlfhO8Rv1IudrAnrG5xTZO8NVp+GPcsdjfoDt0jkYlMnM37UipUrrUWm1RABdUYoTJYgFZsQRz98ScR4fRpCiUcsdDFwveEIQNgGMQGJaNyAY2uNzNF6pqNuKVIM5NratK7DeT+fQ4IVWrVaVSqaOll00xoaoHOpSFhAfhRB05Lhl0It2bIo05xyshUCibwSs3t+N/L88LhqxAAnzE29cH8lkQyKtYtpqFSxDSxkqAARJkkRG94tvgXmeEXzOgnUXqJSptU0dzFSF16pLMFGxt4hexwnJWx8T02/kgp8WehWoPSIDmoBO9jIafbEPabJk1C2g0VJMrDGlPPTEsnXSQfbbF8dn07zLBKrM6io7loClgVVVpQIJUMSbn4TGJ+P5Bai6DuL6v9V4MEg2IPX5QJ5KbLe5xdPpiLn8uFAiujA3IQPI9S6L8hOKWVDL4zZYJGoEhuQAEXkg+Vji5mu5pSNLu/8AXZR7Rf3PtgeaxY3E4aPQ7lFb+wUylWkU11KbIAYlHME2mFM9RbFoVqKL3iI9QDbWRpHQsFvv54E1FJpxEAE2/wC39BjTL5x0MrII9sJxTG95JK0FKfF3arrdrnqIEcgALAcgBg/lKb0zl6TAmoVkrEka3LKsdbzH9WF7J9oXpkMlOiHGz91T1DzHhifOMX+DF6tc1HJdyZMyST+uOcWQyZI0922N1BZTbcfSSCYI5HmNsL1N5LEm5J2YiLm0D3wyZSygW3W/rrF55+KJ5RhVzQZAmpG01iTTNvFDlSd/D4reKMPBbJ4vJb7wr4gzCL/Efbn1vg9mmmpyFz+Lqf0tb9DhXWk+qtSFN5y4Y1BCyoQ+MzN4J5ThqakS/Pc3k9T8vQW+uOy+Ds3SKuSpgqkkbX3t626dMQcQ4vWosqUar01ZAzBTEnU1zNrADHmb4l3FJDuxsig8+vkPr9Me8K7EZnPnvGYIg8OtxaQbrSUG4BJEzvzwMcXdi4k7sgTtPmg1sxVJF7hD+a4t8Jzr1EqPU8TyZ1DeHpGDET6f3wWzH2Ouqk0s0pYcnp6QfKQzfkcL9EvlXfL5hDSq8jMo8xBF4G1iLHax3pKFrRTJtGubqQP354s5mixyuWrLdaTVKb/0sza1J8mFvVcUOKEwY6zv6/PffffqcBcn2nq5ZyVhkYaXpsNSMDurKbEfkbiDjLxsngmoyaflHma4i1OsHU6GBncTPIx039jiTi/FjVfVTOlSJNOdjHi0n7yTJHMbHacaZ/jWTqjwZZ6L89FRtHsrSR/3Yo1+IEqtIR3aklQo67knc++3lh+Jqbio8Xv4PGqWZjqOlZPOCbLPQT+RxHlV702qKn+pTHuVkgeYBxI9bTSNMEw5DP0MfD8pPzxWylQK0iR58weRA/T1w/fQv0Rai1/yFU4FX3FMuPxUj3i/NAfkcN/ZvLNSUPmdVNUbWoc+N2AMKqfFckX8vksZHIXYsthyDfRSOXMesYgojTmKyk2ViBIJtJjz2wnFz8jqWOMtLf8Aj7Dv/wAcy5uaeYk73pf32x7hPqEkzt74zFvaRFxi3dHSuLcJmFJmD855z0gzivnaIAGkwVixBv5i0fMje04aeC1v4p+7daYqU1K+JZDQbhhuCJNwd/fCrxlyjsjJpKk2nYnbUZP64sxqIaJZjpFydhteIH1Me+KCqaVPSxUtUaQVOoEKJ3H+oesDmMWMvxDu17xlMj7s856x5TgZXLZp1ShTqMQPhA1tsok6FAAhReBecI1dkpdlhSO7qqRShwGL1CQUCRamF3ZpiPbacW85kaKVKjspWnpBpNqDM1Y6bkhyCuqXjBDhXAK9EGpmKFVAo/AzDzZtAbTA69cBOK6az61CgfdIG45THXfE7a0LVIOLxEF1chqihRAdiGjT4bgkggkEX5DFfM1wzllXTqMkFi5JPxMzG5JMknzxUyuYDrOxWzDoY/Ii4xITiD+DM5S2gsuapOiKiutRAQNTKyLr/wAU0hpBBqGDLGBBEjmOqITP+GSTvH9JJk2MQI+nrBqjGVc0bQFMQCG1kETJkBhc7T05c8NdlIy5P6gNneGU3VWalTlhIglgPEywWR4mVJA6e+NMlwjL/eCrfkH6r/V0LH2wx5bhlM0yajsHBCkBFIBIbRrl1IDFXFlOkAExOK2VyqtVVGZVBcJOksSSJAC2JkwsWMnHDtW9FGhkaJGnRpFTSA+qApG8yDIEgmP1wNzXCcrqguqqSYYMQpg3iU5Agx5jBzimRVKtMUqmrVVQQoWk0F3DKO9+EhkI1fCNyTvhUzz68w5dmJAYy9QO33I7wqNI25biByxSMH5KqOuLPTwjLlgEqayeSupI2/p/cYN8P4clNQfEuq0kqOkgXE/EPnhfr8V8atGllm6woMxAI0+IRuCBNve5Q7TQxMEsw0kh9A2UA6QmmwUbAT1wzgL7asZmI0EDVDC5gCQNwIN+XyHli/UyLwRVYuCrCoCaZXWC/wDhaZ/l6G+ZA5YB8MrqdABtYGx2gCDtbykT7CCdavlxSdRSIqqxUHU4M6O8Vo+HTBCRM/e23mCNpM24Pwd7igCoHhVaaKQahju0qgzFEgNM2674hVBIsNui+cfs3+gxTyRpPVC1WOgwgjUgDErDNU0mAL2Ak+WLa52kWPxCmNOnVdxYFtRAE+Kb2nfHUc74oWe2WZNTPFZgIqKPFqibk6tTE35zy8sdvy2XFJFRDCoAoBusARbmD539MfPfGKwbMHe4AJJ2IO55zBP7GO1dle0aZimqsw75RDKbFtIEsom4O5jacaIp0V6QdObAIDeH8pOw1bexg+WFr7SeDLXyTuQA9AF1POB8S+hH1AOGbYGee/6yOmEvt12lRKJoUocvAdQ3hVZEhd4J20iwE2wyR1iRwn+ZRJZxMkXLciLmFM74p5vs6r7VKc+p/wDXBLJZULTgAiSTHO/L5RixnMq9EuUNM92VJYMraQyv8GojWQhIIAMSuxIxlcblozNXIXafZci4amf+r/bBDiPZoAqVandVMBiYkSQZA8Xl5wJjHi8XNV9Cg1WWQGUrDBQLiABHnvgpkMzTZSHptrBg+MSL8xMwQRcdDjuLH+qFtL+oMpcEmB4STt4l/vbG69k7yQLf1J7c8EoAaVkQZF7iDI+WJXzTPIZmsAoBlTA022BjUu/lhEiKXkrrw4KpspBEWZT0OwJMSOXUYrrwNC1eq6uweiAChb+XULhEYnSAAQhsQRfni6KM7T8z/fG54hoolXVdMtDa3B8QUQQG8QDKHAaYMwL4eLKY5JArIZNlpqGyi1jf+Ya1VSQSSJCsAIBAt0xmID2iAsFJAsDOMw31FOUzpXYkaM0akkKlN2axIAjf8sI/aTtXVzLuSYBMKIEhZJAmJ588dazvZarXSokJl6ceBKYHj8qrAg+0RebxhFq5JjV7sL41hNAE3FvUseuNNlmUl4ZUrDLUV+PMEEHlEGWIHIQxjyx0xq2S4RlRq8K2tANSo0TLdW53gL5Wwsdl3jitMOoUik4AA+9AsB10hvrih9snB6lR6VTSzUkJDgRIBYNPkCtpPNfnJulfz+9HQVtjX2c+1XJ56oKVPUtQ/CrgeKL+EgkTab9MA/tO4ZRyxXMr4KdUw8C2sgsrADmwDTHMA8ycC+zfDxns/SrUKQSjRqataoqKqi4QaQASSQNuRN4w28X4aMzxjL06rTTytA1qdOLNU1qC7TuACsC/3r7gmuQWrOd5N3C9+KdamjDTqZXUMJGkzGnlbxc8WVz5YAhpHop/MY7PWJqShAiIaRIIO4g7gjrjgvGSuTzFQLUNSmXcBTEhQ7aSCPisdzc4WULWiGWFK0X6lY+X/av/AK4xFkGSoPnbqdUgeURF5xRpcSVwCpkHFrKP4pBiATbf2jEKM6K1bjygAdzTLqz/AM2+sgo6BTy8JbUPNR0x7T7QUu9BfLhqVi1PvGBLRGsPEg7QB088L9erz6/riOYnyxdRVG5LSGDh2apVESp3SAr4BrAcErAIbUPEpMt7wTa4vg3D1zmb0U5EToYhYUBpZiAIgXgGdwMbcEdhlXAI8awQQCfiDgrI8JBA8W++CH2SlRVqT8XcrH/d4vrGDHtiLbs6PwzszQoJKIpYfG7DU55BixvHKBEbbEEwca4dl647qpRWox2gBXHnqF19fzxapcSBcossefRfU8j5c/THpPdnqW+/+KP7dMNQ9nK+KZN+H12oE6kcaqVQ7i/+2kjbY4gznaivD0u9Y0tVlIU7W3In68z1wf8AtWqqUy8/HrYD0IE/ULjnyVPD+/PBe+xVVh6j2szCurhxqQBRKIbC4kFYJHXfzxtX40z0XquZc87DxGwEC0AeXLC4amJqnioH+mGj0Jm/K3zwjSOkgfXqkktuSbk8564ucF4qaT6zJtA8v9PTA8cgLg/uMblDYYeNoLG1O3NQwC1Ug6pBdiN7WnpiDgwFVqhYxSWdCiJLEMQL7oCLx1GAS0WkAC5t6eeDOT429AVKNMU9JRULFAWg6mJB3BliJva2DObaoCSGijTpd7TWoYV7LJCrqMKC5KsAo8RmDEeuI/4FWWt3fiUjwjuFquBpQXaAKZ1EjUvxRfAFuP1GVART8MjVoEmTPi6kcumCmW4i+ZeozAaqjAaaawp+EBdM7be+IVSFritAPL5gK9UVGYE6Gk6dZlReQNMEHfmCOeCWTrqWdwQ0BblQ0WXUdUBlMA326zfFbN5JFr901BVMgNqQlgQTq8OrkQRFpj3xfymSpKyIgRS83YabhJ06iNptffTtfDN6qjm7VDPUqO9ErClEWk2sMkBGGhQBuGFRX1G9mHQYj4OHpFCEVkrMulTpIJbUoYAz4dZXUARsPXCJnWIzNUG/wx5AAAD22kb788eSMBQQyW+Qy8RzAoI2oCaZKkeYIETsTY/InnhMzmdZxrZviPoAOg9MTcUcmiQNg0/+OAXxUwQbgww6dD6csdGNCRgk2WRmR648xAlK2+PMNSKUj6e7K9pk7qq1SpUqKhBZmDsyyOYAIjzH6YC0OKUaOdNbvPDUdnqN3Y0wQYKMWk9JEdI5Y2fgq0GNajTUshDMErFJBS6AgDwBhO43iMKwr1KlZFe5VhOsagdTD4ddoA1EReSIB3xVuh6CGcrf/wBXfaxTqa9akzbnc7eXntjpXDeO0a6SWTa/iB+XlhK7HcO10zWcOFd2aY8JBYqoX8RtHvi9QpZSpqLZVqZnxM9ILuSDLWuQDudjJOM8ZPqhY29jpU4lTQWKx0BA+mOd9o1zBzX8dQNPvUQ011SV0mfCQCLSdyeZ6zghmeBZA/4hUGJszc4BPgebmBtytzxtlexWX+Ok9QQeTvuCQQVYnmCCCOoOGcmukNsQu2n2q58A0aSihqEO4Xx7bI2tgAQdwJmYPPHP83xR6reM+OAI2B8x88da7S9jxWOljpen8LQYIO/KYg8jvYzBxzzi32d1qMuzIUBsRO87HUBHIz+ojBWXWxJxtAzhubIJA2n09cNeQzJ0+ojAfgvZ0s5RwVtYgBTMjy8VpsfpgmmSekSuu4MbCMJJ3szV5J8/2NOoClVZw2kgBabgagCQW7wKACSPEQbbHc06/Y3MA6JYuTAXuGYGTAOumzpHnqtBmMF0FgWpg+dwD8r/AFxSzatuEUfOPnJnHKRf3NEPD6XdUwjEErAMAEGLEiRN4nAn+JOTqioh+FmIBkBka7ISNj/9wQXMMDBRWnaDB/XFPigLU2Vk0x4hzuJn6EfLBi6diQezpPC+0dF6SFF7oMJ0GxE+fP1xnEu1lGkmmodQcwoXfUdoOwPrbHJ/+LVKYWDYjniDP8XerTKttv8ALbGmo9j7C3FOMPVq6yVYMNIpmCVvYgjnNycVamUoEiQF1KLk1BBi/hHxXkyCN+owIpZg2a829/3GDXC80lOq+tFqBlZFDAMASfAb7QYki8E4nJ/ALpkbcJpR8QKn74Z1i8XUgnfocR5rRTDIjSAYBNiRe8crdeuCJy1OG8INzBi0A9I8/bFXOcLX+GWqIOqoFIBhlP8AMJBttAAB2semJtCufIXzltJsZ/P26jFjL0zM3+WM4rQVarKq6QGiO9FQje0rZh5/3xFQYyPUWkLz6kQPXlh02ii2g5k8kwBZ/i5RGkTMje5tv5EYpZpv59T0Xy+78sEe6dVpkq4Vk1Szq0+JgWXTEDyN98ZT4IjTUapfbQGVG5Qw1DSRuNwRHPC+RFqQOU4NcEb4vKCDeQRzEc8SjswgEmoD5JXTUPUOir6wxi+8YkGRWhAR9epQzEMGgknwEqIMAA25k3OAw5GlHslp5Ckagq6yHBlhYjlJa28mLm9vKZalOSrI2lkureFgDF9QdSCILCIG0jzpUKtSmxKlSDTNOGEgKWRvDEXDILk4np5yoUKNo0lgwIBBkBhzYiPEcK3YnJVd7AvEakZgk80HznyEecWicV3zF9z6Qf7YZqHFzSUqFmTqkEggxB8jIAsQdhi1U4ymmVZg9zIqVSSb7hmKXsfhtIiMcpDRyxrYtZDS6VFcMVaNhtEiQTzBI/LngFnMg9KJAhpCsPhMb/8Az0w057O94+uNM2N59yTfFbvCNjbpYj5G2E9ymSeb6hYFDGYcUfLR4qZm+yp1t9MZinNFPcj8nWexq5jKsVqo7JsNIkj2n9++KvaDhAbNmvSpVbgsPCQA5R1PhPMkUzI8+mOlUaYjYYmC4d21s09HKslSagqhdQij4gJ+PXsJHxCmImDdrWJxZyubqAEtWkhSx/nKwJA2CdyjLJMxqPMX3HTNOIa2UQ/Eqn1UHHbO0czoVXcMxCFlEhmajUVLyDNNyyrqEyYvEGYwUp8crUl8dSj/AIjLq8UFVBZvGWJmQSBpiIxzrt1xPVnnNLVRQAKAD8UXlhtc3g+WJuF9sa1JQC1PuyW1vSC0qw1gjVpjSxUksIFzvjkr6A3TpnQxmWq0Ger3TuEp3WlURhqholpJW5g23uAcUMvUoU1qGuVmwWbgjnpEEA8pi02g4JcJ7UZEqxXMag8KQ4bkDY6pJJAJJk7cowK7QZFVJJKsj2Ck3iSbgxuIv5DbCzTXg7TWgG1FbtSSmqsQ/eafEyqTZTtBYSWIm2A/EajMzhaumSNkUm02kg2vibJhzU7h6i902opYajAHgUSBqYkLedpjljbJUUelVd/BVR28EP8ACrIssWNyxJMgC46YVppaJNS8GtPIVXEBy0qRJNjLmoTFgCD4bW0mIwOegaZBdtelmLK0hWsbeAg6SYsOu++HZM0KFMa1bvGIVKYBLsbWF4EAg3/O2FHj9ao9SqvcVQ1IS6wGIESCIYyCLiJ+mFUpHU0gRVKAKsLqBfVUDsC2rVC6dWlQJgQDtvgdmGg2IIvsdhC8p5RPOffFLP1ngkKdIIBN4E/iP7/LBXO9lalHLpVeoveVACtEXJV5UMPFffkI88MrZNRk9i3mHNgfu2H528sQmpY++LHdMzaIE85ZVF/NiAD7jEbZYgE6Vgb+JT05avMcsViylvyjzKnZjsNhvPl6DmcTUqqkNLkEAEQNzPMzbrOMp8MqOVgBi9lGpeQW1zazDeN8ZlKAbXDIng+80TF4XlNtj5Y5uybSb2Wq2YQKpDmWDFvG0qfHCtJMn4b88bjiANMrr8GsMEJJvDeIT0E/92JcgYqUjVCVFVVUL4SpUl/igzqBPO4gcoxJ21ylKlVp90gVKlFXt1L1R+QA9sChuNoE8TM1GI0kT92npGx2tYeWKtEyw9Ry1DfmOY8sOA4fRPDWqhIqqlEfEYksstE7kTv54BZbNen/AG/nfBSb0isISlpIvKwSmpGi6wdKuJMsRr1fe22tEYsZOGG40nn02/f7kUmryCDsZtECeRN+W46HHmQrd203IO4/I4b25PwH8PN9oLVcyUMFx+58sRjMr+IYo1MztpAgTuJ3JONqOfKzAW/9PqOvQnCvHIk/S5PgvjML+IfPHlXMSQE3PPlisvGW5hD6rO4P6mfXHlfiBbYIs7lVjf35XHt5472pA/C5Pg3q1eXeC3liu1Qf5i/LHlSspCwiSBBIkSRsSOvI9cbLmAGsoAkETJIvcTNwRO4/LAeJ/A34Wfwe95/zF+WNctmF7wSysIMi3IE/pjzX4gTDERuLb8xtta36X0VgHVytNisbrAMdQsX8wR7YHsv4CvTS+PsXnz1FCVOliCRNuvlA98ZgUdf4vq3/ALYzB9kb2J/H2PrajtiTGYzBQ7MxBnj/AC3/ANLfkcZjMFgPmvtF/jt6j8hgPWHjXHmMwIkp9sJ06Y/hapgT3icvKrizwPPVDRRS7lVaApYwBewEwNz8zjMZh/D/AJ5Jy7Rc4rTHcEwJ1reL/Go/InEPBeIVKkd5Ud4QRqYt97zOMxmJw/05FZdjtxuof4jJmTJoEk8ySbk9T4R8h0wD47nH77NeNviQ/EdwVCn1AsOmMxmGh0ED7ZDOx+AD279Lenlhe3WsxuwpUSCbnbrjMZhPAUD+JHVE3+Le/wB4/wBh8sUFpjoPljMZgy7Jm1NRoJ8j+uJai2jkDIHIEi5A9h8hjMZgLtjfJnCx/MXzH98EOOGWWbwkCeQ7ypYfM/PGYzDr8oPJjue5QTaEt6KYxUyovjzGYrHtG/0/kvsMYBjMZjT4NRhGMjGYzHCmRjIx7jMA49jHpGMxmAcYceEYzGY4U8AxmMxmOOP/2Q=="/>
          <p:cNvSpPr>
            <a:spLocks noChangeAspect="1" noChangeArrowheads="1"/>
          </p:cNvSpPr>
          <p:nvPr/>
        </p:nvSpPr>
        <p:spPr bwMode="auto">
          <a:xfrm>
            <a:off x="155575" y="-884238"/>
            <a:ext cx="2466975" cy="18478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3566" name="Picture 14" descr="http://www.aprendaefaca.net/wp-content/uploads/2008/03/capacitor_estuf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1600" y="3284983"/>
            <a:ext cx="3560772" cy="2673817"/>
          </a:xfrm>
          <a:prstGeom prst="rect">
            <a:avLst/>
          </a:prstGeom>
          <a:noFill/>
        </p:spPr>
      </p:pic>
      <p:pic>
        <p:nvPicPr>
          <p:cNvPr id="7" name="Picture 6" descr="reprodução">
            <a:hlinkClick r:id="rId5" action="ppaction://program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508104" y="4087296"/>
            <a:ext cx="2857872" cy="19339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Potencial Elétrico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3096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pt-BR" sz="2200" dirty="0"/>
              <a:t>Uma carga puntiforme isolada gera no espaço que a rodeia a possibilidade de se ter uma energia potencial elétrica. Para isso basta colocar uma carga de prova nesse espaço.</a:t>
            </a:r>
          </a:p>
          <a:p>
            <a:pPr>
              <a:lnSpc>
                <a:spcPct val="80000"/>
              </a:lnSpc>
            </a:pPr>
            <a:r>
              <a:rPr lang="pt-BR" sz="2200" dirty="0"/>
              <a:t>A partir dessa idéia, define-se o potencial elétrico (V) de um ponto do espaço como a quantidade de energia potencial elétrica (</a:t>
            </a:r>
            <a:r>
              <a:rPr lang="pt-BR" sz="2200" dirty="0" err="1"/>
              <a:t>Epot</a:t>
            </a:r>
            <a:r>
              <a:rPr lang="pt-BR" sz="2200" dirty="0"/>
              <a:t>.) por unidade de carga de prova (q) colocada nesse ponto:</a:t>
            </a:r>
          </a:p>
          <a:p>
            <a:pPr>
              <a:lnSpc>
                <a:spcPct val="80000"/>
              </a:lnSpc>
              <a:buNone/>
            </a:pPr>
            <a:endParaRPr lang="pt-BR" sz="2200" dirty="0"/>
          </a:p>
          <a:p>
            <a:pPr>
              <a:lnSpc>
                <a:spcPct val="80000"/>
              </a:lnSpc>
            </a:pPr>
            <a:endParaRPr lang="pt-BR" sz="2200" dirty="0"/>
          </a:p>
          <a:p>
            <a:pPr>
              <a:lnSpc>
                <a:spcPct val="80000"/>
              </a:lnSpc>
            </a:pPr>
            <a:endParaRPr lang="pt-BR" sz="2200" dirty="0"/>
          </a:p>
          <a:p>
            <a:pPr>
              <a:lnSpc>
                <a:spcPct val="80000"/>
              </a:lnSpc>
            </a:pPr>
            <a:endParaRPr lang="pt-BR" sz="2200" dirty="0"/>
          </a:p>
          <a:p>
            <a:r>
              <a:rPr lang="pt-BR" sz="2200" dirty="0"/>
              <a:t>V → Potencial elétrico (V)</a:t>
            </a:r>
          </a:p>
          <a:p>
            <a:r>
              <a:rPr lang="pt-BR" sz="2200" dirty="0" err="1"/>
              <a:t>Epot</a:t>
            </a:r>
            <a:r>
              <a:rPr lang="pt-BR" sz="2200" dirty="0"/>
              <a:t> → Campo elétrico (N/C)</a:t>
            </a:r>
          </a:p>
          <a:p>
            <a:r>
              <a:rPr lang="pt-BR" sz="2200" dirty="0"/>
              <a:t>q → Carga </a:t>
            </a:r>
            <a:r>
              <a:rPr lang="pt-BR" sz="2000" dirty="0">
                <a:solidFill>
                  <a:schemeClr val="bg1"/>
                </a:solidFill>
                <a:latin typeface="Comic Sans MS" pitchFamily="66" charset="0"/>
              </a:rPr>
              <a:t>(C)</a:t>
            </a:r>
            <a:r>
              <a:rPr lang="pt-BR" sz="2000" baseline="30000" dirty="0">
                <a:solidFill>
                  <a:schemeClr val="bg1"/>
                </a:solidFill>
                <a:latin typeface="Comic Sans MS" pitchFamily="66" charset="0"/>
              </a:rPr>
              <a:t>  </a:t>
            </a:r>
            <a:r>
              <a:rPr lang="pt-BR" sz="2000" dirty="0">
                <a:solidFill>
                  <a:schemeClr val="bg1"/>
                </a:solidFill>
                <a:latin typeface="Comic Sans MS" pitchFamily="66" charset="0"/>
              </a:rPr>
              <a:t> </a:t>
            </a:r>
          </a:p>
          <a:p>
            <a:pPr>
              <a:lnSpc>
                <a:spcPct val="80000"/>
              </a:lnSpc>
            </a:pPr>
            <a:endParaRPr lang="pt-BR" sz="220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17</a:t>
            </a:fld>
            <a:endParaRPr lang="pt-BR"/>
          </a:p>
        </p:txBody>
      </p:sp>
      <p:pic>
        <p:nvPicPr>
          <p:cNvPr id="6" name="Picture 10" descr="1-e5e637a9d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3468998"/>
            <a:ext cx="3807822" cy="1112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0" name="Picture 2" descr="http://www.sofisica.com.br/conteudos/Eletromagnetismo/Eletrostatica/figuras/pot6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3905" y="3168352"/>
            <a:ext cx="3278535" cy="29249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9393" y="4437112"/>
            <a:ext cx="5094735" cy="1760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Corrente Elétrica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3124944"/>
          </a:xfrm>
        </p:spPr>
        <p:txBody>
          <a:bodyPr>
            <a:normAutofit fontScale="92500" lnSpcReduction="20000"/>
          </a:bodyPr>
          <a:lstStyle/>
          <a:p>
            <a:pPr lvl="0">
              <a:defRPr/>
            </a:pPr>
            <a:r>
              <a:rPr lang="pt-BR" dirty="0"/>
              <a:t>Para que haja corrente é necessário uma força capaz de mover as carga (V).</a:t>
            </a:r>
          </a:p>
          <a:p>
            <a:pPr lvl="0">
              <a:defRPr/>
            </a:pPr>
            <a:r>
              <a:rPr lang="pt-BR" dirty="0"/>
              <a:t>A corrente elétrica é uma resposta da ação do campo elétrico externo (E).</a:t>
            </a:r>
          </a:p>
          <a:p>
            <a:pPr lvl="0">
              <a:defRPr/>
            </a:pPr>
            <a:r>
              <a:rPr lang="pt-BR" b="1" u="sng" dirty="0"/>
              <a:t>Corrente elétrica (i) </a:t>
            </a:r>
            <a:r>
              <a:rPr lang="pt-BR" dirty="0"/>
              <a:t>pode ser definida como a quantidade de carga (Q) que passa pela seção transversal (A) de um condutor por segundo (</a:t>
            </a:r>
            <a:r>
              <a:rPr lang="el-GR" dirty="0">
                <a:latin typeface="Calibri"/>
                <a:cs typeface="Calibri"/>
              </a:rPr>
              <a:t>Δ</a:t>
            </a:r>
            <a:r>
              <a:rPr lang="pt-BR" dirty="0"/>
              <a:t>t):</a:t>
            </a:r>
          </a:p>
          <a:p>
            <a:pPr lvl="2">
              <a:lnSpc>
                <a:spcPct val="90000"/>
              </a:lnSpc>
              <a:defRPr/>
            </a:pPr>
            <a:r>
              <a:rPr lang="pt-BR" sz="2100" dirty="0"/>
              <a:t>Onde Q=n.e, unidade C</a:t>
            </a:r>
          </a:p>
          <a:p>
            <a:pPr lvl="2">
              <a:lnSpc>
                <a:spcPct val="90000"/>
              </a:lnSpc>
              <a:defRPr/>
            </a:pPr>
            <a:r>
              <a:rPr lang="pt-BR" sz="2100" dirty="0"/>
              <a:t> e=1,6.10-19C</a:t>
            </a:r>
          </a:p>
          <a:p>
            <a:pPr lvl="2">
              <a:lnSpc>
                <a:spcPct val="90000"/>
              </a:lnSpc>
              <a:defRPr/>
            </a:pPr>
            <a:r>
              <a:rPr lang="pt-BR" sz="2100" dirty="0"/>
              <a:t> Quantidade de elétrons (n): </a:t>
            </a:r>
          </a:p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18</a:t>
            </a:fld>
            <a:endParaRPr lang="pt-BR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940152" y="3861048"/>
            <a:ext cx="1219200" cy="844062"/>
          </a:xfrm>
          <a:prstGeom prst="rect">
            <a:avLst/>
          </a:prstGeom>
          <a:noFill/>
        </p:spPr>
      </p:pic>
      <p:pic>
        <p:nvPicPr>
          <p:cNvPr id="25602" name="Picture 2" descr="Corrente Elétrica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32240" y="4797152"/>
            <a:ext cx="1619250" cy="1238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Resistência Elétrica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pt-BR" dirty="0"/>
              <a:t>É uma medida da oposição de um material ao fluxo de </a:t>
            </a:r>
            <a:r>
              <a:rPr lang="pt-BR" b="1" u="sng" dirty="0"/>
              <a:t>corrente elétrica</a:t>
            </a:r>
            <a:r>
              <a:rPr lang="pt-BR" dirty="0"/>
              <a:t>.</a:t>
            </a:r>
          </a:p>
          <a:p>
            <a:pPr>
              <a:lnSpc>
                <a:spcPct val="80000"/>
              </a:lnSpc>
              <a:defRPr/>
            </a:pPr>
            <a:r>
              <a:rPr lang="pt-BR" dirty="0"/>
              <a:t>A resistência elétrica R de um dispositivo está relacionada com a resistividade </a:t>
            </a:r>
            <a:r>
              <a:rPr lang="en-US" dirty="0"/>
              <a:t>ρ</a:t>
            </a:r>
            <a:r>
              <a:rPr lang="pt-BR" dirty="0"/>
              <a:t> de um material por.</a:t>
            </a:r>
          </a:p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19</a:t>
            </a:fld>
            <a:endParaRPr lang="pt-BR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3928" y="2852936"/>
            <a:ext cx="4886325" cy="1688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31640" y="3356992"/>
            <a:ext cx="1219200" cy="1219200"/>
          </a:xfrm>
          <a:prstGeom prst="rect">
            <a:avLst/>
          </a:prstGeom>
          <a:noFill/>
        </p:spPr>
      </p:pic>
      <p:sp>
        <p:nvSpPr>
          <p:cNvPr id="9" name="Retângulo 8"/>
          <p:cNvSpPr/>
          <p:nvPr/>
        </p:nvSpPr>
        <p:spPr>
          <a:xfrm>
            <a:off x="827584" y="4553833"/>
            <a:ext cx="777686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sz="16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em que:</a:t>
            </a:r>
            <a:endParaRPr lang="en-US" sz="1600" b="1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b="1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ρ</a:t>
            </a:r>
            <a:r>
              <a:rPr lang="pt-BR" sz="16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é a resistividade elétrica (em ohm metros, </a:t>
            </a:r>
            <a:r>
              <a:rPr lang="pt-BR" sz="1600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Ωm</a:t>
            </a:r>
            <a:r>
              <a:rPr lang="pt-BR" sz="16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);</a:t>
            </a:r>
            <a:endParaRPr lang="en-US" sz="1600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b="1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R</a:t>
            </a:r>
            <a:r>
              <a:rPr lang="pt-BR" sz="16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é a resistência elétrica de um espécime uniforme do material(em </a:t>
            </a:r>
            <a:r>
              <a:rPr lang="pt-BR" sz="1600" dirty="0">
                <a:latin typeface="Arial" pitchFamily="34" charset="0"/>
                <a:ea typeface="Times New Roman" pitchFamily="18" charset="0"/>
                <a:cs typeface="Arial" pitchFamily="34" charset="0"/>
                <a:hlinkClick r:id="rId4" tooltip="Ohm"/>
              </a:rPr>
              <a:t>ohms</a:t>
            </a:r>
            <a:r>
              <a:rPr lang="pt-BR" sz="16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, Ω);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sz="16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L</a:t>
            </a:r>
            <a:r>
              <a:rPr lang="pt-BR" sz="16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é o comprimento do espécime (medido em metros);</a:t>
            </a:r>
            <a:endParaRPr lang="pt-BR" sz="1600" i="1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b="1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A</a:t>
            </a:r>
            <a:r>
              <a:rPr lang="pt-BR" sz="16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é a área da seção do espécime (em metros quadrados, </a:t>
            </a:r>
            <a:r>
              <a:rPr lang="pt-BR" sz="1600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m²</a:t>
            </a:r>
            <a:r>
              <a:rPr lang="pt-BR" sz="16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)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382959-C01D-4D9F-AD05-E1660C26D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Efeitos da corrente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2626546-EDF7-4954-A795-41A474F9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20</a:t>
            </a:fld>
            <a:endParaRPr lang="pt-BR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31049BAA-35CB-42B2-8854-24D8724ACCC7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738" y="1482598"/>
            <a:ext cx="6001220" cy="456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8238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Resistência Elétrica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b="1" dirty="0"/>
              <a:t>Resistividade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21</a:t>
            </a:fld>
            <a:endParaRPr lang="pt-BR"/>
          </a:p>
        </p:txBody>
      </p:sp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2195736" y="2132856"/>
          <a:ext cx="4259274" cy="2448269"/>
        </p:xfrm>
        <a:graphic>
          <a:graphicData uri="http://schemas.openxmlformats.org/drawingml/2006/table">
            <a:tbl>
              <a:tblPr/>
              <a:tblGrid>
                <a:gridCol w="1965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3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4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Arial"/>
                          <a:ea typeface="Times New Roman"/>
                        </a:rPr>
                        <a:t>Material</a:t>
                      </a:r>
                      <a:endParaRPr lang="en-US" sz="12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1" dirty="0">
                          <a:latin typeface="Arial"/>
                          <a:ea typeface="Times New Roman"/>
                        </a:rPr>
                        <a:t>Resistividade a 20ºC (r</a:t>
                      </a:r>
                      <a:r>
                        <a:rPr lang="pt-BR" sz="1200" b="1" baseline="-25000" dirty="0">
                          <a:latin typeface="Arial"/>
                          <a:ea typeface="Times New Roman"/>
                        </a:rPr>
                        <a:t>20</a:t>
                      </a:r>
                      <a:r>
                        <a:rPr lang="pt-BR" sz="1200" b="1" dirty="0">
                          <a:latin typeface="Arial"/>
                          <a:ea typeface="Times New Roman"/>
                        </a:rPr>
                        <a:t>) em (W.m = ohm.metro)</a:t>
                      </a:r>
                      <a:endParaRPr lang="en-US" sz="12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6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Arial"/>
                          <a:ea typeface="Times New Roman"/>
                        </a:rPr>
                        <a:t>Prata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Arial"/>
                          <a:ea typeface="Times New Roman"/>
                        </a:rPr>
                        <a:t>1,59 . 10</a:t>
                      </a:r>
                      <a:r>
                        <a:rPr lang="en-US" sz="1200" baseline="30000">
                          <a:latin typeface="Arial"/>
                          <a:ea typeface="Times New Roman"/>
                        </a:rPr>
                        <a:t>-8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6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Arial"/>
                          <a:ea typeface="Times New Roman"/>
                        </a:rPr>
                        <a:t>Cobre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Arial"/>
                          <a:ea typeface="Times New Roman"/>
                        </a:rPr>
                        <a:t>1,673 . 10</a:t>
                      </a:r>
                      <a:r>
                        <a:rPr lang="en-US" sz="1200" baseline="30000">
                          <a:latin typeface="Arial"/>
                          <a:ea typeface="Times New Roman"/>
                        </a:rPr>
                        <a:t>-8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84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Arial"/>
                          <a:ea typeface="Times New Roman"/>
                        </a:rPr>
                        <a:t>Alumínio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Arial"/>
                          <a:ea typeface="Times New Roman"/>
                        </a:rPr>
                        <a:t>2,655 . 10</a:t>
                      </a:r>
                      <a:r>
                        <a:rPr lang="en-US" sz="1200" baseline="30000">
                          <a:latin typeface="Arial"/>
                          <a:ea typeface="Times New Roman"/>
                        </a:rPr>
                        <a:t>-8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6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Arial"/>
                          <a:ea typeface="Times New Roman"/>
                        </a:rPr>
                        <a:t>Tungstênio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Arial"/>
                          <a:ea typeface="Times New Roman"/>
                        </a:rPr>
                        <a:t>5,50 . 10</a:t>
                      </a:r>
                      <a:r>
                        <a:rPr lang="en-US" sz="1200" baseline="30000">
                          <a:latin typeface="Arial"/>
                          <a:ea typeface="Times New Roman"/>
                        </a:rPr>
                        <a:t>-8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6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Arial"/>
                          <a:ea typeface="Times New Roman"/>
                        </a:rPr>
                        <a:t>Ferro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Arial"/>
                          <a:ea typeface="Times New Roman"/>
                        </a:rPr>
                        <a:t>9,71 . 10</a:t>
                      </a:r>
                      <a:r>
                        <a:rPr lang="en-US" sz="1200" baseline="30000">
                          <a:latin typeface="Arial"/>
                          <a:ea typeface="Times New Roman"/>
                        </a:rPr>
                        <a:t>-8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884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Arial"/>
                          <a:ea typeface="Times New Roman"/>
                        </a:rPr>
                        <a:t>Platina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Arial"/>
                          <a:ea typeface="Times New Roman"/>
                        </a:rPr>
                        <a:t>9,83 . 10</a:t>
                      </a:r>
                      <a:r>
                        <a:rPr lang="en-US" sz="1200" baseline="30000">
                          <a:latin typeface="Arial"/>
                          <a:ea typeface="Times New Roman"/>
                        </a:rPr>
                        <a:t>-8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6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latin typeface="Arial"/>
                          <a:ea typeface="Times New Roman"/>
                        </a:rPr>
                        <a:t>Mercúrio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Arial"/>
                          <a:ea typeface="Times New Roman"/>
                        </a:rPr>
                        <a:t>95,8 . 10</a:t>
                      </a:r>
                      <a:r>
                        <a:rPr lang="en-US" sz="1200" baseline="30000" dirty="0">
                          <a:latin typeface="Arial"/>
                          <a:ea typeface="Times New Roman"/>
                        </a:rPr>
                        <a:t>-8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2492896"/>
            <a:ext cx="8762100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1E4D5-411B-42AB-AEFF-9FF611446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Resistividade dos materiais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869A637-57F8-41B1-B212-9F9C61667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22</a:t>
            </a:fld>
            <a:endParaRPr lang="pt-BR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56FBBE20-8677-4813-BBD2-50E8F861AAFB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6" t="4020" r="6053" b="4020"/>
          <a:stretch/>
        </p:blipFill>
        <p:spPr bwMode="auto">
          <a:xfrm>
            <a:off x="658522" y="1772816"/>
            <a:ext cx="7826956" cy="3600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005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Resistência Elétrica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b="1" dirty="0" err="1"/>
              <a:t>Resistores</a:t>
            </a:r>
            <a:endParaRPr lang="pt-BR" b="1" dirty="0"/>
          </a:p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23</a:t>
            </a:fld>
            <a:endParaRPr lang="pt-BR"/>
          </a:p>
        </p:txBody>
      </p:sp>
      <p:pic>
        <p:nvPicPr>
          <p:cNvPr id="27650" name="Picture 2" descr="Resistor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4088" y="1628800"/>
            <a:ext cx="3429000" cy="4286250"/>
          </a:xfrm>
          <a:prstGeom prst="rect">
            <a:avLst/>
          </a:prstGeom>
          <a:noFill/>
        </p:spPr>
      </p:pic>
      <p:pic>
        <p:nvPicPr>
          <p:cNvPr id="27651" name="Picture 3" descr="C:\Users\xico\AppData\Local\Temp\canstockphoto0197776_comp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276872"/>
            <a:ext cx="4622806" cy="3640460"/>
          </a:xfrm>
          <a:prstGeom prst="rect">
            <a:avLst/>
          </a:prstGeom>
          <a:noFill/>
        </p:spPr>
      </p:pic>
      <p:pic>
        <p:nvPicPr>
          <p:cNvPr id="27653" name="Picture 5" descr="http://img137.imageshack.us/img137/7939/dscn1948zl5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35695" y="1898828"/>
            <a:ext cx="5688633" cy="42664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Tensão</a:t>
            </a:r>
            <a:r>
              <a:rPr lang="en-US" dirty="0"/>
              <a:t> </a:t>
            </a:r>
            <a:r>
              <a:rPr lang="en-US" dirty="0" err="1"/>
              <a:t>Elétrica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pt-BR" sz="2200" dirty="0"/>
              <a:t>Tensão elétrica é a diferença de potencial elétrico entre dois pontos.</a:t>
            </a:r>
          </a:p>
          <a:p>
            <a:pPr>
              <a:lnSpc>
                <a:spcPct val="80000"/>
              </a:lnSpc>
              <a:defRPr/>
            </a:pPr>
            <a:r>
              <a:rPr lang="pt-BR" sz="2200" dirty="0"/>
              <a:t>Por outras palavras, a tensão elétrica é a "força" responsável pela movimentação de elétrons.</a:t>
            </a:r>
            <a:endParaRPr lang="en-US" sz="2200" dirty="0"/>
          </a:p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24</a:t>
            </a:fld>
            <a:endParaRPr lang="pt-BR"/>
          </a:p>
        </p:txBody>
      </p:sp>
      <p:pic>
        <p:nvPicPr>
          <p:cNvPr id="28674" name="Picture 2" descr="Corrente Elétrica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0152" y="3789040"/>
            <a:ext cx="2476500" cy="1752600"/>
          </a:xfrm>
          <a:prstGeom prst="rect">
            <a:avLst/>
          </a:prstGeom>
          <a:noFill/>
        </p:spPr>
      </p:pic>
      <p:pic>
        <p:nvPicPr>
          <p:cNvPr id="28676" name="Picture 4" descr="http://www.infoescola.com/wp-content/uploads/2011/01/tensao-eletric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07765" y="2780928"/>
            <a:ext cx="3724275" cy="3181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Lei Ohm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Mantendo-se constante a temperatura do resistor, sua resistência elétrica permanecera constante.</a:t>
            </a:r>
          </a:p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25</a:t>
            </a:fld>
            <a:endParaRPr lang="pt-BR"/>
          </a:p>
        </p:txBody>
      </p:sp>
      <p:pic>
        <p:nvPicPr>
          <p:cNvPr id="29698" name="Picture 2" descr=" R = \frac {V} {I}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3645024"/>
            <a:ext cx="1243452" cy="864096"/>
          </a:xfrm>
          <a:prstGeom prst="rect">
            <a:avLst/>
          </a:prstGeom>
          <a:noFill/>
        </p:spPr>
      </p:pic>
      <p:pic>
        <p:nvPicPr>
          <p:cNvPr id="29700" name="Picture 4" descr="http://portaldoprofessor.mec.gov.br/storage/discovirtual/galerias/imagem/0000001005/000001739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3848" y="2564904"/>
            <a:ext cx="4930725" cy="30243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 de Resistores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b="1" u="sng" dirty="0"/>
              <a:t>Associação de resistores em série</a:t>
            </a:r>
            <a:r>
              <a:rPr lang="pt-BR" dirty="0"/>
              <a:t>: é aquela cuja corrente que passa pelos resistores é constante.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sz="2000" dirty="0"/>
              <a:t>Resistência equivalente em série: sejam n resistores em serie, de </a:t>
            </a:r>
            <a:r>
              <a:rPr lang="pt-BR" sz="2000" i="1" dirty="0"/>
              <a:t>R</a:t>
            </a:r>
            <a:r>
              <a:rPr lang="pt-BR" sz="2000" i="1" baseline="-25000" dirty="0"/>
              <a:t>1</a:t>
            </a:r>
            <a:r>
              <a:rPr lang="pt-BR" sz="2000" i="1" dirty="0"/>
              <a:t> a </a:t>
            </a:r>
            <a:r>
              <a:rPr lang="pt-BR" sz="2000" i="1" dirty="0" err="1"/>
              <a:t>R</a:t>
            </a:r>
            <a:r>
              <a:rPr lang="pt-BR" sz="2000" i="1" baseline="-25000" dirty="0" err="1"/>
              <a:t>n</a:t>
            </a:r>
            <a:r>
              <a:rPr lang="pt-BR" sz="2000" i="1" dirty="0"/>
              <a:t>.</a:t>
            </a:r>
          </a:p>
          <a:p>
            <a:pPr lvl="2"/>
            <a:r>
              <a:rPr lang="pt-BR" sz="2000" dirty="0"/>
              <a:t>Da figura, vemos que </a:t>
            </a:r>
            <a:r>
              <a:rPr lang="pt-BR" sz="2000" i="1" dirty="0"/>
              <a:t>V</a:t>
            </a:r>
            <a:r>
              <a:rPr lang="pt-BR" sz="2000" i="1" baseline="-25000" dirty="0"/>
              <a:t>0n</a:t>
            </a:r>
            <a:r>
              <a:rPr lang="pt-BR" sz="2000" i="1" dirty="0"/>
              <a:t> = V</a:t>
            </a:r>
            <a:r>
              <a:rPr lang="pt-BR" sz="2000" i="1" baseline="-25000" dirty="0"/>
              <a:t>01</a:t>
            </a:r>
            <a:r>
              <a:rPr lang="pt-BR" sz="2000" i="1" dirty="0"/>
              <a:t> + V</a:t>
            </a:r>
            <a:r>
              <a:rPr lang="pt-BR" sz="2000" i="1" baseline="-25000" dirty="0"/>
              <a:t>12</a:t>
            </a:r>
            <a:r>
              <a:rPr lang="pt-BR" sz="2000" i="1" dirty="0"/>
              <a:t> + ... + V</a:t>
            </a:r>
            <a:r>
              <a:rPr lang="pt-BR" sz="2000" i="1" baseline="-25000" dirty="0"/>
              <a:t>n0,n</a:t>
            </a:r>
            <a:endParaRPr lang="pt-BR" sz="2000" i="1" dirty="0"/>
          </a:p>
          <a:p>
            <a:r>
              <a:rPr lang="pt-BR" sz="2000" dirty="0"/>
              <a:t>Como V= Ri e as correntes são iguais:</a:t>
            </a:r>
            <a:endParaRPr lang="pt-BR" sz="2000" baseline="-2500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26</a:t>
            </a:fld>
            <a:endParaRPr lang="pt-B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2420888"/>
            <a:ext cx="3752850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69990" y="5373216"/>
            <a:ext cx="1162050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 de Resistores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200" b="1" u="sng" dirty="0"/>
              <a:t>Associação de resistores em paralelo: </a:t>
            </a:r>
            <a:r>
              <a:rPr lang="pt-BR" sz="2200" dirty="0"/>
              <a:t>é aquela cuja diferença de potencial aplicada a todos os resistores é a mesma.</a:t>
            </a:r>
          </a:p>
          <a:p>
            <a:pPr marL="623888" lvl="4"/>
            <a:r>
              <a:rPr lang="pt-BR" sz="1900" dirty="0"/>
              <a:t>Resistência equivalente em paralelo: sejam n resistores em paralelo, de </a:t>
            </a:r>
            <a:r>
              <a:rPr lang="pt-BR" sz="1900" i="1" dirty="0"/>
              <a:t>R</a:t>
            </a:r>
            <a:r>
              <a:rPr lang="pt-BR" sz="1900" i="1" baseline="-25000" dirty="0"/>
              <a:t>1</a:t>
            </a:r>
            <a:r>
              <a:rPr lang="pt-BR" sz="1900" i="1" dirty="0"/>
              <a:t> a </a:t>
            </a:r>
            <a:r>
              <a:rPr lang="pt-BR" sz="1900" i="1" dirty="0" err="1"/>
              <a:t>R</a:t>
            </a:r>
            <a:r>
              <a:rPr lang="pt-BR" sz="1900" i="1" baseline="-25000" dirty="0" err="1"/>
              <a:t>n</a:t>
            </a:r>
            <a:r>
              <a:rPr lang="pt-BR" sz="1900" i="1" baseline="-25000" dirty="0"/>
              <a:t>.</a:t>
            </a:r>
          </a:p>
          <a:p>
            <a:pPr marL="623888" lvl="4"/>
            <a:r>
              <a:rPr lang="pt-BR" sz="1900" dirty="0"/>
              <a:t>Um circuito com suas resistências ligadas em paralelo. Note que, nesse caso</a:t>
            </a:r>
            <a:r>
              <a:rPr lang="pt-BR" sz="1900" b="1" dirty="0"/>
              <a:t>, </a:t>
            </a:r>
            <a:r>
              <a:rPr lang="pt-BR" sz="1900" b="1" dirty="0" err="1"/>
              <a:t>Vae</a:t>
            </a:r>
            <a:r>
              <a:rPr lang="pt-BR" sz="1900" b="1" dirty="0"/>
              <a:t> = </a:t>
            </a:r>
            <a:r>
              <a:rPr lang="pt-BR" sz="1900" b="1" dirty="0" err="1"/>
              <a:t>Vbe</a:t>
            </a:r>
            <a:r>
              <a:rPr lang="pt-BR" sz="1900" b="1" dirty="0"/>
              <a:t> = </a:t>
            </a:r>
            <a:r>
              <a:rPr lang="pt-BR" sz="1900" b="1" dirty="0" err="1"/>
              <a:t>Vce</a:t>
            </a:r>
            <a:r>
              <a:rPr lang="pt-BR" sz="1900" b="1" dirty="0"/>
              <a:t> = </a:t>
            </a:r>
            <a:r>
              <a:rPr lang="pt-BR" sz="1900" b="1" dirty="0" err="1"/>
              <a:t>Vde</a:t>
            </a:r>
            <a:r>
              <a:rPr lang="pt-BR" sz="1900" b="1" dirty="0"/>
              <a:t> e I = I1 + I2 + I3</a:t>
            </a:r>
          </a:p>
          <a:p>
            <a:pPr marL="623888" lvl="4"/>
            <a:r>
              <a:rPr lang="pt-BR" sz="1900" dirty="0"/>
              <a:t>A resultante equivalente de resistências em paralelo e a soma dos inversos de todas as resistências, que nesse caso especifico e:</a:t>
            </a:r>
          </a:p>
          <a:p>
            <a:pPr lvl="1"/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27</a:t>
            </a:fld>
            <a:endParaRPr lang="pt-BR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 b="8333"/>
          <a:stretch>
            <a:fillRect/>
          </a:stretch>
        </p:blipFill>
        <p:spPr bwMode="auto">
          <a:xfrm>
            <a:off x="1259632" y="4509120"/>
            <a:ext cx="3227134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tângulo 9"/>
          <p:cNvSpPr/>
          <p:nvPr/>
        </p:nvSpPr>
        <p:spPr>
          <a:xfrm>
            <a:off x="4932040" y="5085184"/>
            <a:ext cx="2922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1/Re = 1/R1 + 1/R2 + 1/R3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 Mista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circuito misto e uma combinação das ligações em serie e em paralelo.</a:t>
            </a:r>
          </a:p>
          <a:p>
            <a:pPr lvl="2"/>
            <a:r>
              <a:rPr lang="pt-BR" sz="1900" dirty="0"/>
              <a:t>Para resolver um circuito desse tipo, </a:t>
            </a:r>
            <a:r>
              <a:rPr lang="pt-BR" sz="1900" dirty="0" err="1"/>
              <a:t>voce</a:t>
            </a:r>
            <a:r>
              <a:rPr lang="pt-BR" sz="1900" dirty="0"/>
              <a:t> devera resolve-lo por partes, primeiramente os circuitos em serie e separadamente os em paralelo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28</a:t>
            </a:fld>
            <a:endParaRPr lang="pt-B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3311788"/>
            <a:ext cx="3379465" cy="2451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tângulo 8"/>
          <p:cNvSpPr/>
          <p:nvPr/>
        </p:nvSpPr>
        <p:spPr>
          <a:xfrm>
            <a:off x="4176464" y="3501008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BR" dirty="0"/>
              <a:t>Nas </a:t>
            </a:r>
            <a:r>
              <a:rPr lang="pt-BR" b="1" dirty="0"/>
              <a:t>instalações elétricas prediais</a:t>
            </a:r>
            <a:r>
              <a:rPr lang="pt-BR" dirty="0"/>
              <a:t>, esse circuito misto e o mais encontrado, pois representa a disposição dos pontos de energia, onde se deve considerar a resistência interna de cada um desses</a:t>
            </a:r>
          </a:p>
          <a:p>
            <a:pPr algn="just"/>
            <a:r>
              <a:rPr lang="pt-BR" dirty="0"/>
              <a:t>pontos e também a resistência dos condutores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Leis de </a:t>
            </a:r>
            <a:r>
              <a:rPr lang="pt-BR" dirty="0" err="1"/>
              <a:t>Kirchhoff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É um método para se determinar a solução de circuitos de corrente contínua, através da utilização de leis fundamentais.</a:t>
            </a:r>
          </a:p>
          <a:p>
            <a:r>
              <a:rPr lang="pt-BR" sz="2000" b="1" dirty="0"/>
              <a:t>Definições Básicas:</a:t>
            </a:r>
          </a:p>
          <a:p>
            <a:pPr lvl="2"/>
            <a:r>
              <a:rPr lang="pt-BR" sz="1500" b="1" i="1" dirty="0"/>
              <a:t>Ramo de um circuito</a:t>
            </a:r>
            <a:r>
              <a:rPr lang="pt-BR" sz="1500" i="1" dirty="0"/>
              <a:t>: é um componente isolado tal como um resistor ou uma fonte. Este </a:t>
            </a:r>
            <a:r>
              <a:rPr lang="pt-BR" sz="1500" dirty="0"/>
              <a:t>termo também é usado para um grupo de componentes sujeito a mesma corrente.</a:t>
            </a:r>
          </a:p>
          <a:p>
            <a:pPr lvl="2"/>
            <a:r>
              <a:rPr lang="pt-BR" sz="1500" b="1" i="1" dirty="0"/>
              <a:t>Nó</a:t>
            </a:r>
            <a:r>
              <a:rPr lang="pt-BR" sz="1500" i="1" dirty="0"/>
              <a:t>: é um ponto de conexão entre três ou mais ramos (entre 2: junção).</a:t>
            </a:r>
          </a:p>
          <a:p>
            <a:pPr lvl="2"/>
            <a:r>
              <a:rPr lang="pt-BR" sz="1500" b="1" i="1" dirty="0"/>
              <a:t>Circuito fechado</a:t>
            </a:r>
            <a:r>
              <a:rPr lang="pt-BR" sz="1500" i="1" dirty="0"/>
              <a:t>: é qualquer caminho fechado num circuito.</a:t>
            </a:r>
          </a:p>
          <a:p>
            <a:pPr lvl="2"/>
            <a:r>
              <a:rPr lang="pt-BR" sz="1500" b="1" i="1" dirty="0"/>
              <a:t>Malha</a:t>
            </a:r>
            <a:r>
              <a:rPr lang="pt-BR" sz="1500" i="1" dirty="0"/>
              <a:t>: é um circuito fechado que não tem um trajeto fechado em seu interior.</a:t>
            </a:r>
            <a:endParaRPr lang="pt-BR" sz="1500" b="1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29</a:t>
            </a:fld>
            <a:endParaRPr lang="pt-B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1840" y="4365104"/>
            <a:ext cx="2943225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Leis de </a:t>
            </a:r>
            <a:r>
              <a:rPr lang="pt-BR" dirty="0" err="1"/>
              <a:t>Kirchhoff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b="1" dirty="0"/>
              <a:t>1</a:t>
            </a:r>
            <a:r>
              <a:rPr lang="pt-BR" b="1" baseline="30000" dirty="0"/>
              <a:t>a</a:t>
            </a:r>
            <a:r>
              <a:rPr lang="pt-BR" b="1" dirty="0"/>
              <a:t> Lei: </a:t>
            </a:r>
            <a:r>
              <a:rPr lang="pt-BR" dirty="0"/>
              <a:t>A soma das correntes que chegam a um no do circuito e igual a soma das correntes que se afastam.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30</a:t>
            </a:fld>
            <a:endParaRPr lang="pt-B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492896"/>
            <a:ext cx="3838575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2492896"/>
            <a:ext cx="4067175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tângulo 7"/>
          <p:cNvSpPr/>
          <p:nvPr/>
        </p:nvSpPr>
        <p:spPr>
          <a:xfrm>
            <a:off x="5760640" y="4437112"/>
            <a:ext cx="2771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Para o cálculo da corrente deve-se fazer o seguinte: I = E/R</a:t>
            </a:r>
            <a:r>
              <a:rPr lang="pt-BR" b="1" baseline="-25000" dirty="0"/>
              <a:t>e </a:t>
            </a:r>
            <a:endParaRPr lang="pt-BR" b="1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3" y="4509120"/>
            <a:ext cx="4824536" cy="14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Leis de </a:t>
            </a:r>
            <a:r>
              <a:rPr lang="pt-BR" dirty="0" err="1"/>
              <a:t>Kirchhoff</a:t>
            </a:r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noProof="1"/>
              <a:t>Fundamentos</a:t>
            </a:r>
            <a:r>
              <a:rPr lang="en-US"/>
              <a:t> de Telecomunicações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b="1" dirty="0"/>
              <a:t>2</a:t>
            </a:r>
            <a:r>
              <a:rPr lang="pt-BR" b="1" baseline="30000" dirty="0"/>
              <a:t>a</a:t>
            </a:r>
            <a:r>
              <a:rPr lang="pt-BR" b="1" dirty="0"/>
              <a:t> Lei</a:t>
            </a:r>
            <a:r>
              <a:rPr lang="pt-BR" dirty="0"/>
              <a:t>: A soma dos produtos das correntes pelas resistências em cada malha do circuito e igual a soma algébrica das forcas eletromotrizes dessas malha.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31</a:t>
            </a:fld>
            <a:endParaRPr lang="pt-BR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2852936"/>
            <a:ext cx="7829550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Simulações 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hlinkClick r:id="rId2" action="ppaction://program"/>
              </a:rPr>
              <a:t>Campo Elétrico</a:t>
            </a:r>
            <a:endParaRPr lang="pt-BR" dirty="0"/>
          </a:p>
          <a:p>
            <a:r>
              <a:rPr lang="pt-BR" dirty="0">
                <a:hlinkClick r:id="rId3" action="ppaction://program"/>
              </a:rPr>
              <a:t>Capacitores</a:t>
            </a:r>
            <a:endParaRPr lang="pt-BR" dirty="0">
              <a:hlinkClick r:id="rId4" action="ppaction://program"/>
            </a:endParaRPr>
          </a:p>
          <a:p>
            <a:r>
              <a:rPr lang="pt-BR" dirty="0">
                <a:hlinkClick r:id="rId4" action="ppaction://program"/>
              </a:rPr>
              <a:t>Resistência Elétrica</a:t>
            </a:r>
            <a:endParaRPr lang="pt-BR" dirty="0"/>
          </a:p>
          <a:p>
            <a:r>
              <a:rPr lang="pt-BR" dirty="0">
                <a:hlinkClick r:id="rId5" action="ppaction://program"/>
              </a:rPr>
              <a:t>Condutividade Elétrica</a:t>
            </a:r>
            <a:endParaRPr lang="pt-BR" dirty="0"/>
          </a:p>
          <a:p>
            <a:r>
              <a:rPr lang="pt-BR" dirty="0">
                <a:hlinkClick r:id="rId6" action="ppaction://program"/>
              </a:rPr>
              <a:t>Lei de Ohm</a:t>
            </a:r>
            <a:endParaRPr lang="pt-BR" dirty="0"/>
          </a:p>
          <a:p>
            <a:r>
              <a:rPr lang="pt-BR" dirty="0">
                <a:hlinkClick r:id="rId7" action="ppaction://program"/>
              </a:rPr>
              <a:t>Multímetro</a:t>
            </a:r>
            <a:endParaRPr lang="pt-BR" dirty="0"/>
          </a:p>
          <a:p>
            <a:r>
              <a:rPr lang="pt-BR" dirty="0">
                <a:hlinkClick r:id="rId8" action="ppaction://program"/>
              </a:rPr>
              <a:t>Ondas de Rádio</a:t>
            </a:r>
            <a:endParaRPr lang="pt-BR" dirty="0"/>
          </a:p>
          <a:p>
            <a:endParaRPr lang="pt-BR" dirty="0"/>
          </a:p>
          <a:p>
            <a:pPr>
              <a:buNone/>
            </a:pPr>
            <a:r>
              <a:rPr lang="pt-BR" dirty="0"/>
              <a:t>Simuladores disponível em: </a:t>
            </a:r>
            <a:r>
              <a:rPr lang="pt-BR" dirty="0">
                <a:hlinkClick r:id="rId9"/>
              </a:rPr>
              <a:t>http://phet.colorado.edu</a:t>
            </a:r>
            <a:r>
              <a:rPr lang="pt-BR" dirty="0"/>
              <a:t> 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04B0-60A0-4438-9746-CDC1620B0CBB}" type="slidenum">
              <a:rPr lang="pt-BR" smtClean="0"/>
              <a:pPr/>
              <a:t>32</a:t>
            </a:fld>
            <a:endParaRPr lang="pt-B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1">
            <a:extLst>
              <a:ext uri="{FF2B5EF4-FFF2-40B4-BE49-F238E27FC236}">
                <a16:creationId xmlns:a16="http://schemas.microsoft.com/office/drawing/2014/main" id="{93D9BBC7-AF62-4E43-A2E9-F8C067F70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921" y="273961"/>
            <a:ext cx="8226720" cy="114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5594" rIns="0" bIns="0" anchor="ctr"/>
          <a:lstStyle>
            <a:lvl1pPr>
              <a:lnSpc>
                <a:spcPct val="93000"/>
              </a:lnSpc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Bef>
                <a:spcPts val="11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Bef>
                <a:spcPts val="8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Bef>
                <a:spcPts val="2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pt-BR" sz="3991"/>
              <a:t>As principais grandezas elétricas</a:t>
            </a:r>
          </a:p>
        </p:txBody>
      </p:sp>
      <p:sp>
        <p:nvSpPr>
          <p:cNvPr id="22531" name="Text Box 2">
            <a:extLst>
              <a:ext uri="{FF2B5EF4-FFF2-40B4-BE49-F238E27FC236}">
                <a16:creationId xmlns:a16="http://schemas.microsoft.com/office/drawing/2014/main" id="{3B8BCA72-6929-4499-9B61-49D61FD25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640" y="1772816"/>
            <a:ext cx="8226720" cy="4170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22532" rIns="0" bIns="0"/>
          <a:lstStyle>
            <a:lvl1pPr marL="342900" indent="-334963">
              <a:lnSpc>
                <a:spcPct val="93000"/>
              </a:lnSpc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Bef>
                <a:spcPts val="11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Bef>
                <a:spcPts val="8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Bef>
                <a:spcPts val="2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ts val="635"/>
              </a:spcBef>
              <a:buClrTx/>
            </a:pPr>
            <a:r>
              <a:rPr lang="pt-BR" altLang="pt-BR" sz="2540" dirty="0"/>
              <a:t>Potência Elétrica - Watts (</a:t>
            </a:r>
            <a:r>
              <a:rPr lang="pt-BR" altLang="pt-BR" sz="2540" b="1" dirty="0"/>
              <a:t>W</a:t>
            </a:r>
            <a:r>
              <a:rPr lang="pt-BR" altLang="pt-BR" sz="2540" dirty="0"/>
              <a:t>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pt-BR" sz="2177" dirty="0"/>
              <a:t> É equivalente a um joule por segundo. O Joule é a medida que serve para contar a quantidade de energia que se utiliza.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pt-BR" altLang="pt-BR" sz="254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pt-BR" sz="1451" dirty="0"/>
              <a:t>Exemplo: Um refrigerador de 200 Watts que funciona 10 horas por dia pelo período de 30 dias.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pt-BR" altLang="pt-BR" sz="1451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pt-BR" sz="1451" dirty="0"/>
              <a:t>Consumo = (Potência do equipamento (Watts) x Horas Por Dia x Nº dias) / 1000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pt-BR" sz="1451" dirty="0"/>
              <a:t>Consumo = (200 Watts x 10 horas dia x 30 dias) / 1000 = 60.000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pt-BR" sz="1451" dirty="0"/>
              <a:t>Consumo = 60.000 / 1000 = 60 kWh por mês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pt-BR" altLang="pt-BR" sz="1451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pt-BR" sz="1451" b="1" dirty="0"/>
              <a:t>Aparelho Potência			(Watt)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pt-BR" sz="1451" dirty="0"/>
              <a:t>Computador				350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pt-BR" sz="1451" dirty="0"/>
              <a:t>Impressora jato de tinta 		50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pt-BR" sz="1451" dirty="0"/>
              <a:t>Impressora laser 			400</a:t>
            </a:r>
          </a:p>
          <a:p>
            <a:pPr>
              <a:lnSpc>
                <a:spcPct val="100000"/>
              </a:lnSpc>
              <a:spcBef>
                <a:spcPts val="635"/>
              </a:spcBef>
              <a:buClrTx/>
            </a:pPr>
            <a:endParaRPr lang="pt-BR" altLang="pt-BR" sz="2540" dirty="0"/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pt-BR" altLang="pt-BR" sz="254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1">
            <a:extLst>
              <a:ext uri="{FF2B5EF4-FFF2-40B4-BE49-F238E27FC236}">
                <a16:creationId xmlns:a16="http://schemas.microsoft.com/office/drawing/2014/main" id="{C5DE8E87-E07C-4F4F-B46F-6C2A10675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81" y="128521"/>
            <a:ext cx="8226720" cy="114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5594" rIns="0" bIns="0" anchor="ctr"/>
          <a:lstStyle>
            <a:lvl1pPr>
              <a:lnSpc>
                <a:spcPct val="93000"/>
              </a:lnSpc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Bef>
                <a:spcPts val="11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Bef>
                <a:spcPts val="8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Bef>
                <a:spcPts val="2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pt-BR" sz="3991" dirty="0"/>
              <a:t>Volt-Ampere x Watt</a:t>
            </a:r>
          </a:p>
        </p:txBody>
      </p:sp>
      <p:sp>
        <p:nvSpPr>
          <p:cNvPr id="24579" name="Text Box 2">
            <a:extLst>
              <a:ext uri="{FF2B5EF4-FFF2-40B4-BE49-F238E27FC236}">
                <a16:creationId xmlns:a16="http://schemas.microsoft.com/office/drawing/2014/main" id="{111229F7-99F0-4244-A6F9-EDAA65BC4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81" y="1484784"/>
            <a:ext cx="8226720" cy="4992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22532" rIns="0" bIns="0"/>
          <a:lstStyle>
            <a:lvl1pPr marL="342900" indent="-334963">
              <a:lnSpc>
                <a:spcPct val="93000"/>
              </a:lnSpc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Bef>
                <a:spcPts val="11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Bef>
                <a:spcPts val="8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Bef>
                <a:spcPts val="2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ts val="635"/>
              </a:spcBef>
              <a:buClrTx/>
            </a:pPr>
            <a:r>
              <a:rPr lang="pt-BR" altLang="pt-BR" sz="2177" dirty="0"/>
              <a:t>A potência real, dada em Watt (W), é igual ou menor que a potência aparente, dada em Volt-Ampere (VA), dependendo do Fator de Potência. ... Portanto, para converter VA (ou kVA) em Watt, e vice-versa, não existe um fator único de conversão, é preciso conhecer o Fator de Potência do circuito em questão.</a:t>
            </a:r>
          </a:p>
          <a:p>
            <a:pPr>
              <a:lnSpc>
                <a:spcPct val="100000"/>
              </a:lnSpc>
              <a:spcBef>
                <a:spcPts val="635"/>
              </a:spcBef>
              <a:buClrTx/>
            </a:pPr>
            <a:r>
              <a:rPr lang="pt-BR" altLang="pt-BR" sz="2177" dirty="0"/>
              <a:t>Por exemplo:</a:t>
            </a:r>
          </a:p>
          <a:p>
            <a:pPr>
              <a:lnSpc>
                <a:spcPct val="100000"/>
              </a:lnSpc>
              <a:spcBef>
                <a:spcPts val="635"/>
              </a:spcBef>
              <a:buClrTx/>
            </a:pPr>
            <a:r>
              <a:rPr lang="pt-BR" altLang="pt-BR" sz="2177" dirty="0"/>
              <a:t>Potência aparente = 1000 VA = 1 kVA</a:t>
            </a:r>
          </a:p>
          <a:p>
            <a:pPr>
              <a:lnSpc>
                <a:spcPct val="100000"/>
              </a:lnSpc>
              <a:spcBef>
                <a:spcPts val="635"/>
              </a:spcBef>
              <a:buClrTx/>
            </a:pPr>
            <a:r>
              <a:rPr lang="pt-BR" altLang="pt-BR" sz="2177" dirty="0"/>
              <a:t>Fator de Potência (FP) = 0,7 (ou 70%)</a:t>
            </a:r>
          </a:p>
          <a:p>
            <a:pPr>
              <a:lnSpc>
                <a:spcPct val="100000"/>
              </a:lnSpc>
              <a:spcBef>
                <a:spcPts val="635"/>
              </a:spcBef>
              <a:buClrTx/>
            </a:pPr>
            <a:r>
              <a:rPr lang="pt-BR" altLang="pt-BR" sz="2177" dirty="0"/>
              <a:t>Então, Potência real = 1000 x 0,7 = 700 W = 0,7 kW</a:t>
            </a:r>
          </a:p>
          <a:p>
            <a:pPr>
              <a:lnSpc>
                <a:spcPct val="100000"/>
              </a:lnSpc>
              <a:spcBef>
                <a:spcPts val="635"/>
              </a:spcBef>
              <a:buClrTx/>
            </a:pPr>
            <a:r>
              <a:rPr lang="pt-BR" altLang="pt-BR" sz="2177" dirty="0"/>
              <a:t>VA=Watt / FP</a:t>
            </a:r>
          </a:p>
          <a:p>
            <a:pPr>
              <a:lnSpc>
                <a:spcPct val="100000"/>
              </a:lnSpc>
              <a:spcBef>
                <a:spcPts val="635"/>
              </a:spcBef>
              <a:buClrTx/>
            </a:pPr>
            <a:r>
              <a:rPr lang="pt-BR" altLang="pt-BR" sz="2177" dirty="0"/>
              <a:t>Watt=VA * FP</a:t>
            </a:r>
          </a:p>
          <a:p>
            <a:pPr>
              <a:lnSpc>
                <a:spcPct val="100000"/>
              </a:lnSpc>
              <a:spcBef>
                <a:spcPts val="635"/>
              </a:spcBef>
              <a:buClrTx/>
            </a:pPr>
            <a:r>
              <a:rPr lang="pt-BR" altLang="pt-BR" sz="2177" dirty="0"/>
              <a:t>Exercício:</a:t>
            </a:r>
          </a:p>
          <a:p>
            <a:pPr>
              <a:lnSpc>
                <a:spcPct val="100000"/>
              </a:lnSpc>
              <a:spcBef>
                <a:spcPts val="635"/>
              </a:spcBef>
              <a:buClrTx/>
            </a:pPr>
            <a:r>
              <a:rPr lang="pt-BR" altLang="pt-BR" sz="2177" dirty="0"/>
              <a:t>Calcule a capacidade de um nobreak para 20 computadores, com 350 Watts e fator de potência de 70%.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">
            <a:extLst>
              <a:ext uri="{FF2B5EF4-FFF2-40B4-BE49-F238E27FC236}">
                <a16:creationId xmlns:a16="http://schemas.microsoft.com/office/drawing/2014/main" id="{86FC8258-80B9-41A2-AA9D-E99112EAC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921" y="273961"/>
            <a:ext cx="8226720" cy="114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5594" rIns="0" bIns="0" anchor="ctr"/>
          <a:lstStyle>
            <a:lvl1pPr marL="215900" indent="-215900">
              <a:lnSpc>
                <a:spcPct val="93000"/>
              </a:lnSpc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Bef>
                <a:spcPts val="11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Bef>
                <a:spcPts val="8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Bef>
                <a:spcPts val="2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SzPct val="45000"/>
              <a:buFont typeface="Wingdings" panose="05000000000000000000" pitchFamily="2" charset="2"/>
              <a:buNone/>
            </a:pPr>
            <a:r>
              <a:rPr lang="pt-BR" altLang="pt-BR" sz="3991"/>
              <a:t>As principais grandezas elétricas</a:t>
            </a:r>
          </a:p>
        </p:txBody>
      </p:sp>
      <p:pic>
        <p:nvPicPr>
          <p:cNvPr id="26627" name="Picture 2">
            <a:extLst>
              <a:ext uri="{FF2B5EF4-FFF2-40B4-BE49-F238E27FC236}">
                <a16:creationId xmlns:a16="http://schemas.microsoft.com/office/drawing/2014/main" id="{468D99E8-A58A-460B-8418-7808E5C41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161" y="1620361"/>
            <a:ext cx="6009120" cy="4714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>
            <a:extLst>
              <a:ext uri="{FF2B5EF4-FFF2-40B4-BE49-F238E27FC236}">
                <a16:creationId xmlns:a16="http://schemas.microsoft.com/office/drawing/2014/main" id="{50C56CF0-37DA-46B6-88CA-B44A49EB47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921" y="273961"/>
            <a:ext cx="8226720" cy="1144800"/>
          </a:xfrm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vert="horz" tIns="35594" anchor="ctr">
            <a:normAutofit/>
          </a:bodyPr>
          <a:lstStyle/>
          <a:p>
            <a:pPr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/>
              <a:t>As principais grandezas elétricas</a:t>
            </a: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A61A0D84-7B0C-4858-A7FC-3FE5AC83E72F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457921" y="1604521"/>
            <a:ext cx="8226720" cy="3977280"/>
          </a:xfrm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vert="horz" tIns="22532">
            <a:normAutofit/>
          </a:bodyPr>
          <a:lstStyle/>
          <a:p>
            <a:pPr marL="0" indent="0" algn="just">
              <a:spcBef>
                <a:spcPts val="635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2540" dirty="0"/>
              <a:t>Um chuveiro de 220 Volts Consome 40 Amperes, qual é a potência elétrica?</a:t>
            </a:r>
          </a:p>
          <a:p>
            <a:pPr marL="0" indent="0" algn="just">
              <a:spcBef>
                <a:spcPts val="635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endParaRPr lang="pt-BR" altLang="pt-BR" sz="2540" dirty="0"/>
          </a:p>
          <a:p>
            <a:pPr marL="0" indent="0" algn="just">
              <a:spcBef>
                <a:spcPts val="635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2540" dirty="0"/>
              <a:t>V x A = P    </a:t>
            </a:r>
          </a:p>
          <a:p>
            <a:pPr marL="0" indent="0" algn="just">
              <a:spcBef>
                <a:spcPts val="635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endParaRPr lang="pt-BR" altLang="pt-BR" sz="2540" dirty="0"/>
          </a:p>
          <a:p>
            <a:pPr marL="0" indent="0" algn="just">
              <a:spcBef>
                <a:spcPts val="635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endParaRPr lang="pt-BR" altLang="pt-BR" sz="2540" dirty="0"/>
          </a:p>
          <a:p>
            <a:pPr marL="0" indent="0" algn="just">
              <a:spcBef>
                <a:spcPts val="635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2540" dirty="0"/>
              <a:t>220 x 40 = 8800 W</a:t>
            </a:r>
          </a:p>
        </p:txBody>
      </p:sp>
      <p:pic>
        <p:nvPicPr>
          <p:cNvPr id="28676" name="Picture 3">
            <a:extLst>
              <a:ext uri="{FF2B5EF4-FFF2-40B4-BE49-F238E27FC236}">
                <a16:creationId xmlns:a16="http://schemas.microsoft.com/office/drawing/2014/main" id="{7DED01EE-1F60-46F6-B15B-8318108CC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841" y="2458441"/>
            <a:ext cx="3752640" cy="2897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>
            <a:extLst>
              <a:ext uri="{FF2B5EF4-FFF2-40B4-BE49-F238E27FC236}">
                <a16:creationId xmlns:a16="http://schemas.microsoft.com/office/drawing/2014/main" id="{8D0F149B-CE5B-49D9-B60D-C8FB34D90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921" y="273961"/>
            <a:ext cx="8226720" cy="1144800"/>
          </a:xfrm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vert="horz" tIns="35594" anchor="ctr">
            <a:normAutofit/>
          </a:bodyPr>
          <a:lstStyle/>
          <a:p>
            <a:pPr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/>
              <a:t>As principais grandezas elétricas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5612A12B-EF57-4D05-8F65-3DC025E650EB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457921" y="1604520"/>
            <a:ext cx="8226720" cy="4861440"/>
          </a:xfrm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vert="horz" tIns="22532">
            <a:normAutofit lnSpcReduction="10000"/>
          </a:bodyPr>
          <a:lstStyle/>
          <a:p>
            <a:pPr marL="0" indent="0" algn="just">
              <a:spcBef>
                <a:spcPts val="635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2540"/>
              <a:t>Um chuveiro de 220 Volts Consome 40 Amperes, qual é a potência elétrica?</a:t>
            </a:r>
          </a:p>
          <a:p>
            <a:pPr marL="0" indent="0" algn="just">
              <a:spcBef>
                <a:spcPts val="635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2540"/>
              <a:t>V x A = P    </a:t>
            </a:r>
          </a:p>
          <a:p>
            <a:pPr marL="0" indent="0" algn="just">
              <a:spcBef>
                <a:spcPts val="635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2540"/>
              <a:t>220 x 40 = 8800</a:t>
            </a:r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endParaRPr lang="pt-BR" altLang="pt-BR" sz="2540" b="1"/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1451"/>
              <a:t>Qual disjuntor usar no Computado 350w em 110v ?</a:t>
            </a:r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1451"/>
              <a:t>Quantos A?  350W/110v = 3,18A</a:t>
            </a:r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endParaRPr lang="pt-BR" altLang="pt-BR" sz="1451"/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1451"/>
              <a:t>Minha Impressora jato de tinta 50w em 110v. Quantos A?</a:t>
            </a:r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1451"/>
              <a:t>50w/110v= 0,45 A</a:t>
            </a:r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endParaRPr lang="pt-BR" altLang="pt-BR" sz="1451"/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1451"/>
              <a:t>Impressora laser 1,82A em 220v. Quantos w?</a:t>
            </a:r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1451"/>
              <a:t>220v * 1,82A = 400w</a:t>
            </a:r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endParaRPr lang="pt-BR" altLang="pt-BR" sz="1451"/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1451"/>
              <a:t>Um chuveiro elétrico de 6050W é utilizado em 220V, mas a pessoa vai para um outro estado aonde a tensão é de 110V. Qual o valor da nova resistência pra que o aquecimento do chuveiro continue o mesmo?  110V * 110v = 12100 / 6050W =  2</a:t>
            </a:r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1451"/>
              <a:t>                220V * 220v = 48400 / 6050W =  8</a:t>
            </a:r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endParaRPr lang="pt-BR" altLang="pt-BR" sz="1451"/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endParaRPr lang="pt-BR" altLang="pt-BR" sz="1451"/>
          </a:p>
        </p:txBody>
      </p:sp>
      <p:pic>
        <p:nvPicPr>
          <p:cNvPr id="30724" name="Picture 3">
            <a:extLst>
              <a:ext uri="{FF2B5EF4-FFF2-40B4-BE49-F238E27FC236}">
                <a16:creationId xmlns:a16="http://schemas.microsoft.com/office/drawing/2014/main" id="{E55903D3-A690-4634-A14D-7F82E8898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841" y="2089801"/>
            <a:ext cx="3574080" cy="3356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>
            <a:extLst>
              <a:ext uri="{FF2B5EF4-FFF2-40B4-BE49-F238E27FC236}">
                <a16:creationId xmlns:a16="http://schemas.microsoft.com/office/drawing/2014/main" id="{DAF80E6F-C0E2-475E-BA7B-ECE8188D06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921" y="273961"/>
            <a:ext cx="8226720" cy="1144800"/>
          </a:xfrm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vert="horz" tIns="35594" anchor="ctr">
            <a:normAutofit/>
          </a:bodyPr>
          <a:lstStyle/>
          <a:p>
            <a:pPr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/>
              <a:t>Exercícios</a:t>
            </a: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58CCFA5-86C0-4AE0-AFFD-0FC8CDEAB6C1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457921" y="1604520"/>
            <a:ext cx="8226720" cy="4861440"/>
          </a:xfrm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vert="horz" tIns="22532">
            <a:normAutofit/>
          </a:bodyPr>
          <a:lstStyle/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2540" b="1"/>
              <a:t>1)Informe a corrente (A) de um secador de cabelo de 1700 W, em 127 Volts.</a:t>
            </a:r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endParaRPr lang="pt-BR" altLang="pt-BR" sz="2540" b="1"/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2540" b="1"/>
              <a:t>2)Informe a corrente de uma TV LED de 32“, que tem </a:t>
            </a:r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2540" b="1"/>
              <a:t>potência de 10 Watts, em 127 Volts.</a:t>
            </a:r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endParaRPr lang="pt-BR" altLang="pt-BR" sz="2540" b="1"/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2540" b="1"/>
              <a:t>3)Qual a potência de uma Impressora laser, que possui corrente de 5 A em 127 Volts?</a:t>
            </a:r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endParaRPr lang="pt-BR" altLang="pt-BR" sz="2540" b="1"/>
          </a:p>
          <a:p>
            <a:pPr marL="0" indent="0">
              <a:spcBef>
                <a:spcPct val="0"/>
              </a:spcBef>
              <a:buClrTx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2540" b="1"/>
              <a:t>4)Um Ferro de Passar com resistência de 30 </a:t>
            </a:r>
            <a:r>
              <a:rPr lang="el-GR" altLang="pt-BR" sz="2540" b="1"/>
              <a:t>Ω</a:t>
            </a:r>
            <a:r>
              <a:rPr lang="pt-BR" altLang="pt-BR" sz="2540" b="1"/>
              <a:t> está ligado em uma rede de 127 Volts. Calcule a corrente.</a:t>
            </a:r>
          </a:p>
          <a:p>
            <a:pPr marL="0" indent="0">
              <a:spcBef>
                <a:spcPct val="0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endParaRPr lang="pt-BR" altLang="pt-BR" sz="2540" b="1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>
            <a:extLst>
              <a:ext uri="{FF2B5EF4-FFF2-40B4-BE49-F238E27FC236}">
                <a16:creationId xmlns:a16="http://schemas.microsoft.com/office/drawing/2014/main" id="{7BB64C3D-CF40-48CD-ADBD-F28A7A74BC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921" y="273961"/>
            <a:ext cx="8226720" cy="1144800"/>
          </a:xfrm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vert="horz" tIns="32329" anchor="ctr">
            <a:normAutofit/>
          </a:bodyPr>
          <a:lstStyle/>
          <a:p>
            <a:pPr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3628"/>
              <a:t>Corrente Continua e Corrente Alternada</a:t>
            </a: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ACA861F3-C09D-4827-8A12-D80EEDF1C950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683568" y="1571400"/>
            <a:ext cx="8226720" cy="3977280"/>
          </a:xfrm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vert="horz" tIns="22532">
            <a:normAutofit lnSpcReduction="10000"/>
          </a:bodyPr>
          <a:lstStyle/>
          <a:p>
            <a:pPr indent="-303845" algn="just">
              <a:spcBef>
                <a:spcPts val="703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endParaRPr lang="pt-BR" altLang="pt-BR" sz="2812" dirty="0"/>
          </a:p>
          <a:p>
            <a:pPr indent="-303845" algn="just">
              <a:spcBef>
                <a:spcPts val="703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2812" dirty="0"/>
              <a:t>Corrente Alternada (</a:t>
            </a:r>
            <a:r>
              <a:rPr lang="pt-BR" altLang="pt-BR" sz="2812" b="1" dirty="0"/>
              <a:t>CA</a:t>
            </a:r>
            <a:r>
              <a:rPr lang="pt-BR" altLang="pt-BR" sz="2812" dirty="0"/>
              <a:t>)</a:t>
            </a:r>
          </a:p>
          <a:p>
            <a:pPr indent="-303845" algn="just">
              <a:spcBef>
                <a:spcPts val="794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2812" dirty="0" err="1"/>
              <a:t>alternating</a:t>
            </a:r>
            <a:r>
              <a:rPr lang="pt-BR" altLang="pt-BR" sz="2812" dirty="0"/>
              <a:t> </a:t>
            </a:r>
            <a:r>
              <a:rPr lang="pt-BR" altLang="pt-BR" sz="2812" dirty="0" err="1"/>
              <a:t>voltage</a:t>
            </a:r>
            <a:r>
              <a:rPr lang="pt-BR" altLang="pt-BR" sz="2812" dirty="0"/>
              <a:t> </a:t>
            </a:r>
            <a:r>
              <a:rPr lang="pt-BR" altLang="pt-BR" sz="2812" dirty="0" err="1"/>
              <a:t>current</a:t>
            </a:r>
            <a:endParaRPr lang="pt-BR" altLang="pt-BR" sz="2812" dirty="0"/>
          </a:p>
          <a:p>
            <a:pPr indent="-303845" algn="just">
              <a:spcBef>
                <a:spcPts val="703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2812" dirty="0"/>
              <a:t>ACV, A~ </a:t>
            </a:r>
          </a:p>
          <a:p>
            <a:pPr indent="-303845" algn="just">
              <a:spcBef>
                <a:spcPts val="703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endParaRPr lang="pt-BR" altLang="pt-BR" sz="2812" dirty="0"/>
          </a:p>
          <a:p>
            <a:pPr indent="-303845" algn="just">
              <a:spcBef>
                <a:spcPts val="703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2812" dirty="0"/>
              <a:t>Corrente Continua (</a:t>
            </a:r>
            <a:r>
              <a:rPr lang="pt-BR" altLang="pt-BR" sz="2812" b="1" dirty="0"/>
              <a:t>CC</a:t>
            </a:r>
            <a:r>
              <a:rPr lang="pt-BR" altLang="pt-BR" sz="2812" dirty="0"/>
              <a:t>)  </a:t>
            </a:r>
          </a:p>
          <a:p>
            <a:pPr indent="-303845" algn="just">
              <a:spcBef>
                <a:spcPts val="794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2812" dirty="0"/>
              <a:t>direct </a:t>
            </a:r>
            <a:r>
              <a:rPr lang="pt-BR" altLang="pt-BR" sz="2812" dirty="0" err="1"/>
              <a:t>voltage</a:t>
            </a:r>
            <a:r>
              <a:rPr lang="pt-BR" altLang="pt-BR" sz="2812" dirty="0"/>
              <a:t> </a:t>
            </a:r>
            <a:r>
              <a:rPr lang="pt-BR" altLang="pt-BR" sz="2812" dirty="0" err="1"/>
              <a:t>current</a:t>
            </a:r>
            <a:endParaRPr lang="pt-BR" altLang="pt-BR" sz="2812" dirty="0"/>
          </a:p>
          <a:p>
            <a:pPr indent="-303845" algn="just">
              <a:spcBef>
                <a:spcPts val="794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2812" dirty="0"/>
              <a:t>DVC, D-</a:t>
            </a:r>
          </a:p>
          <a:p>
            <a:pPr indent="-303845" algn="just">
              <a:spcBef>
                <a:spcPts val="794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endParaRPr lang="pt-BR" altLang="pt-BR" sz="3175" dirty="0"/>
          </a:p>
          <a:p>
            <a:pPr indent="-303845" algn="just">
              <a:spcBef>
                <a:spcPts val="794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endParaRPr lang="pt-BR" altLang="pt-BR" sz="3175" dirty="0"/>
          </a:p>
          <a:p>
            <a:pPr indent="-303845" algn="just">
              <a:spcBef>
                <a:spcPts val="794"/>
              </a:spcBef>
              <a:buClrTx/>
              <a:buNone/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endParaRPr lang="pt-BR" altLang="pt-BR" sz="3175" dirty="0"/>
          </a:p>
        </p:txBody>
      </p:sp>
      <p:pic>
        <p:nvPicPr>
          <p:cNvPr id="34820" name="Picture 3">
            <a:extLst>
              <a:ext uri="{FF2B5EF4-FFF2-40B4-BE49-F238E27FC236}">
                <a16:creationId xmlns:a16="http://schemas.microsoft.com/office/drawing/2014/main" id="{FF6D9DB6-8FB4-4A4B-8AF4-82A3989C7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852827"/>
            <a:ext cx="3097440" cy="1365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821" name="Picture 4">
            <a:extLst>
              <a:ext uri="{FF2B5EF4-FFF2-40B4-BE49-F238E27FC236}">
                <a16:creationId xmlns:a16="http://schemas.microsoft.com/office/drawing/2014/main" id="{BD386CA5-B6A1-4BA2-B929-EFF9093DD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196" y="1640053"/>
            <a:ext cx="3684960" cy="1624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>
            <a:extLst>
              <a:ext uri="{FF2B5EF4-FFF2-40B4-BE49-F238E27FC236}">
                <a16:creationId xmlns:a16="http://schemas.microsoft.com/office/drawing/2014/main" id="{9B29209C-8D09-4379-A39C-10C27977CF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921" y="273961"/>
            <a:ext cx="8226720" cy="1144800"/>
          </a:xfrm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vert="horz" tIns="32329" anchor="ctr">
            <a:normAutofit/>
          </a:bodyPr>
          <a:lstStyle/>
          <a:p>
            <a:pPr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  <a:tab pos="8150520" algn="l"/>
              </a:tabLst>
            </a:pPr>
            <a:r>
              <a:rPr lang="pt-BR" altLang="pt-BR" sz="3628"/>
              <a:t>Corrente Continua e Corrente Alternada</a:t>
            </a:r>
          </a:p>
        </p:txBody>
      </p:sp>
      <p:pic>
        <p:nvPicPr>
          <p:cNvPr id="36867" name="Picture 2">
            <a:extLst>
              <a:ext uri="{FF2B5EF4-FFF2-40B4-BE49-F238E27FC236}">
                <a16:creationId xmlns:a16="http://schemas.microsoft.com/office/drawing/2014/main" id="{84A9FF68-2E87-4FE6-A4CA-8A8A0A6EB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00" y="2972521"/>
            <a:ext cx="7562880" cy="2054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AE343EADE1F944FB1DE5D179F821929" ma:contentTypeVersion="3" ma:contentTypeDescription="Crie um novo documento." ma:contentTypeScope="" ma:versionID="23f78dce8c82aa5307e93f233ecb8661">
  <xsd:schema xmlns:xsd="http://www.w3.org/2001/XMLSchema" xmlns:xs="http://www.w3.org/2001/XMLSchema" xmlns:p="http://schemas.microsoft.com/office/2006/metadata/properties" xmlns:ns2="1ef0a13e-fbd0-44e8-9ddc-c9c48fc3e6c0" targetNamespace="http://schemas.microsoft.com/office/2006/metadata/properties" ma:root="true" ma:fieldsID="9c7288372653af616bfd7445030150cb" ns2:_="">
    <xsd:import namespace="1ef0a13e-fbd0-44e8-9ddc-c9c48fc3e6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f0a13e-fbd0-44e8-9ddc-c9c48fc3e6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7796765-F1C1-4CA5-8B08-E62DEA729306}"/>
</file>

<file path=customXml/itemProps2.xml><?xml version="1.0" encoding="utf-8"?>
<ds:datastoreItem xmlns:ds="http://schemas.openxmlformats.org/officeDocument/2006/customXml" ds:itemID="{627F3E89-0F0C-4162-B182-19D88A2BAEE9}"/>
</file>

<file path=customXml/itemProps3.xml><?xml version="1.0" encoding="utf-8"?>
<ds:datastoreItem xmlns:ds="http://schemas.openxmlformats.org/officeDocument/2006/customXml" ds:itemID="{172A7434-16A8-44CC-8835-E70FA08D37F3}"/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1703</TotalTime>
  <Words>1918</Words>
  <Application>Microsoft Office PowerPoint</Application>
  <PresentationFormat>Apresentação na tela (4:3)</PresentationFormat>
  <Paragraphs>274</Paragraphs>
  <Slides>40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40</vt:i4>
      </vt:variant>
    </vt:vector>
  </HeadingPairs>
  <TitlesOfParts>
    <vt:vector size="50" baseType="lpstr">
      <vt:lpstr>Arial</vt:lpstr>
      <vt:lpstr>Calibri</vt:lpstr>
      <vt:lpstr>Comic Sans MS</vt:lpstr>
      <vt:lpstr>Times New Roman</vt:lpstr>
      <vt:lpstr>Tw Cen MT</vt:lpstr>
      <vt:lpstr>Wingdings</vt:lpstr>
      <vt:lpstr>Wingdings 2</vt:lpstr>
      <vt:lpstr>Mediano</vt:lpstr>
      <vt:lpstr>Personalizar design</vt:lpstr>
      <vt:lpstr>1_Mediano</vt:lpstr>
      <vt:lpstr>Fundamentos de eletricidade</vt:lpstr>
      <vt:lpstr>Geração de energia elétrica: </vt:lpstr>
      <vt:lpstr>A energia elétrica é produzida a partir da energia mecânica de rotação de um eixo de uma turbina que movimenta um gerador. </vt:lpstr>
      <vt:lpstr>Transmissão de energia</vt:lpstr>
      <vt:lpstr>Distribuição de energia</vt:lpstr>
      <vt:lpstr>Carga Elétrica</vt:lpstr>
      <vt:lpstr>Eletrostática</vt:lpstr>
      <vt:lpstr>Eletrostática</vt:lpstr>
      <vt:lpstr>Mitos e Verdades</vt:lpstr>
      <vt:lpstr>Condutores e Isolantes</vt:lpstr>
      <vt:lpstr>Condutores e Isolantes</vt:lpstr>
      <vt:lpstr>Raios e Par</vt:lpstr>
      <vt:lpstr>Força Elétrica</vt:lpstr>
      <vt:lpstr>Força Elétrica</vt:lpstr>
      <vt:lpstr>Campo Elétrico</vt:lpstr>
      <vt:lpstr>Campo Elétrico</vt:lpstr>
      <vt:lpstr>Potencial Elétrico</vt:lpstr>
      <vt:lpstr>Corrente Elétrica</vt:lpstr>
      <vt:lpstr>Resistência Elétrica</vt:lpstr>
      <vt:lpstr>Efeitos da corrente</vt:lpstr>
      <vt:lpstr>Resistência Elétrica</vt:lpstr>
      <vt:lpstr>Resistividade dos materiais</vt:lpstr>
      <vt:lpstr>Resistência Elétrica</vt:lpstr>
      <vt:lpstr>Tensão Elétrica</vt:lpstr>
      <vt:lpstr>Lei Ohm</vt:lpstr>
      <vt:lpstr>Associação de Resistores</vt:lpstr>
      <vt:lpstr>Associação de Resistores</vt:lpstr>
      <vt:lpstr>Associação Mista</vt:lpstr>
      <vt:lpstr>Leis de Kirchhoff</vt:lpstr>
      <vt:lpstr>Leis de Kirchhoff</vt:lpstr>
      <vt:lpstr>Leis de Kirchhoff</vt:lpstr>
      <vt:lpstr>Simulações </vt:lpstr>
      <vt:lpstr>Apresentação do PowerPoint</vt:lpstr>
      <vt:lpstr>Apresentação do PowerPoint</vt:lpstr>
      <vt:lpstr>Apresentação do PowerPoint</vt:lpstr>
      <vt:lpstr>As principais grandezas elétricas</vt:lpstr>
      <vt:lpstr>As principais grandezas elétricas</vt:lpstr>
      <vt:lpstr>Exercícios</vt:lpstr>
      <vt:lpstr>Corrente Continua e Corrente Alternada</vt:lpstr>
      <vt:lpstr>Corrente Continua e Corrente Alternada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</dc:title>
  <dc:creator>xico</dc:creator>
  <cp:lastModifiedBy>RODRIGO AMORIM MOTTA CARVALHO</cp:lastModifiedBy>
  <cp:revision>68</cp:revision>
  <dcterms:created xsi:type="dcterms:W3CDTF">2012-09-26T02:53:53Z</dcterms:created>
  <dcterms:modified xsi:type="dcterms:W3CDTF">2022-02-16T16:01:02Z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0x010100AAE343EADE1F944FB1DE5D179F821929</vt:lpwstr>
  </property>
</Properties>
</file>