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02" r:id="rId2"/>
    <p:sldId id="303" r:id="rId3"/>
    <p:sldId id="304" r:id="rId4"/>
    <p:sldId id="305" r:id="rId5"/>
    <p:sldId id="314" r:id="rId6"/>
    <p:sldId id="315" r:id="rId7"/>
    <p:sldId id="308" r:id="rId8"/>
    <p:sldId id="309" r:id="rId9"/>
    <p:sldId id="310" r:id="rId10"/>
    <p:sldId id="311" r:id="rId11"/>
    <p:sldId id="312" r:id="rId12"/>
    <p:sldId id="313" r:id="rId13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029" autoAdjust="0"/>
    <p:restoredTop sz="94660"/>
  </p:normalViewPr>
  <p:slideViewPr>
    <p:cSldViewPr snapToGrid="0">
      <p:cViewPr varScale="1">
        <p:scale>
          <a:sx n="85" d="100"/>
          <a:sy n="85" d="100"/>
        </p:scale>
        <p:origin x="138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customXml" Target="../customXml/item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20" Type="http://schemas.openxmlformats.org/officeDocument/2006/relationships/customXml" Target="../customXml/item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customXml" Target="../customXml/item2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5AB384F-DBAD-428B-8B6F-34ADDD8E4A5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D19B617-459E-4D4F-8B83-6CCCDE2CD6A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EA850B6-2E2F-464E-B272-63FE4EC226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C8758A-122D-4F5D-8744-3D96850E45B9}" type="datetimeFigureOut">
              <a:rPr lang="pt-BR" smtClean="0"/>
              <a:t>22/09/2021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A903C58-809D-4C37-BFCC-74E82693C3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136C4FF-F7EF-4672-A216-B991737647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5622C3-245E-4C94-B424-D263EA5B6F1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136768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E87A157-8F32-4369-ACBC-CC23904983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18456F8-D3B6-4FD1-9315-ACDCF72EDB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BDC4A3F-21ED-4847-9DD2-2340A82C52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C8758A-122D-4F5D-8744-3D96850E45B9}" type="datetimeFigureOut">
              <a:rPr lang="pt-BR" smtClean="0"/>
              <a:t>22/09/2021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40C8961-F29C-4C78-BB5D-4E3BAEBEC3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1D73DB0-7C59-4BFA-AD49-578C679B97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5622C3-245E-4C94-B424-D263EA5B6F1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09679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CCE71DB-F1AE-4400-9315-027C03BEF4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95158429-4784-4FA3-90DB-55DB9FEB92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A7880AB-2276-4783-89D9-45DD9838A9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C8758A-122D-4F5D-8744-3D96850E45B9}" type="datetimeFigureOut">
              <a:rPr lang="pt-BR" smtClean="0"/>
              <a:t>22/09/2021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6F5BFFB-7653-4B80-BFBE-A67B245668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9A7DD16-B109-47B9-AC62-783DC40D55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5622C3-245E-4C94-B424-D263EA5B6F1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682441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147EFA1-CFBB-4AAD-9088-58EDEA9521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04A4A6D-32AD-4FBD-B4DE-32FA92B0D4F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00F72A75-9F88-4615-828E-60987CA83D9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CD770EE1-CE97-496B-9F98-846208C75D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C8758A-122D-4F5D-8744-3D96850E45B9}" type="datetimeFigureOut">
              <a:rPr lang="pt-BR" smtClean="0"/>
              <a:t>22/09/2021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1C6FB5E-3A1A-4411-B272-6C7F9F86BC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AE8D6745-0301-4186-A9AB-9AAC38106D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5622C3-245E-4C94-B424-D263EA5B6F1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488628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CD547A9-A805-4484-AD82-FD4A85E524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480A338A-2C5F-4F9C-A109-BC446D7F96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53D2E908-E89C-4969-A099-22099FDE9F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925CA130-98C4-4373-A5B4-A410C946E2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C7E4A0EF-2BBA-464F-BE24-1A1F0F44183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3FCD4679-C5D5-4A59-8F89-ED785A166B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C8758A-122D-4F5D-8744-3D96850E45B9}" type="datetimeFigureOut">
              <a:rPr lang="pt-BR" smtClean="0"/>
              <a:t>22/09/2021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98666387-5842-407D-B79C-733528807F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85567084-E2C8-4D87-AF29-0E2CF335D9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5622C3-245E-4C94-B424-D263EA5B6F1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555580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22D08E8-3E2B-4D18-B652-F5997DC501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36943AB2-C095-4E69-9DC3-C162427AC8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C8758A-122D-4F5D-8744-3D96850E45B9}" type="datetimeFigureOut">
              <a:rPr lang="pt-BR" smtClean="0"/>
              <a:t>22/09/2021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CD43B62E-81E6-4A3D-ABB0-913E2309B5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D9C9D4E2-EC04-49F9-A8F6-461243B317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5622C3-245E-4C94-B424-D263EA5B6F1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770900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52FBCE4E-4B07-47E4-B370-F729F38352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C8758A-122D-4F5D-8744-3D96850E45B9}" type="datetimeFigureOut">
              <a:rPr lang="pt-BR" smtClean="0"/>
              <a:t>22/09/2021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6AB550B6-4DDA-4DAA-876F-877832B061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AD07AE7B-4DBA-4DC0-955A-F290F0D7EC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5622C3-245E-4C94-B424-D263EA5B6F1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027412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4135A9B-26D6-46C6-BB7F-D9BD6730DB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74C84ED-497F-4932-852A-845F8809D6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CD3CF4B9-A080-4674-9F24-4FC716375AB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FA1066D1-7CBA-4322-84E5-12640E5D09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C8758A-122D-4F5D-8744-3D96850E45B9}" type="datetimeFigureOut">
              <a:rPr lang="pt-BR" smtClean="0"/>
              <a:t>22/09/2021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354FFD19-96EC-41F6-A5C8-F127D32C42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6FCEA277-4239-4A21-A12D-6BE4E26906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5622C3-245E-4C94-B424-D263EA5B6F1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669991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9BA5D06-2FF3-43F8-BEA6-CED5239F11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3A97B946-B988-4AC5-A29D-2A16D810536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F85E08F2-FF74-4EAC-B02B-FD48E9EC11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2093C697-45C4-4CAD-899C-3E9D823529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C8758A-122D-4F5D-8744-3D96850E45B9}" type="datetimeFigureOut">
              <a:rPr lang="pt-BR" smtClean="0"/>
              <a:t>22/09/2021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C62A9039-54C8-4851-AB4B-CA6646EA76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489D868-FF51-42AA-9B86-A01DF0F7F2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5622C3-245E-4C94-B424-D263EA5B6F1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610044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A4F8459-81E5-46B6-9FAF-1EE23E67AF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8C5FA5C1-DDA8-4561-88FF-07F467394DD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F5EBCB1-0BEB-4ED6-A355-C715ED8CE4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C8758A-122D-4F5D-8744-3D96850E45B9}" type="datetimeFigureOut">
              <a:rPr lang="pt-BR" smtClean="0"/>
              <a:t>22/09/2021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1964D5E-02F6-4DEC-A2B6-D740F4D169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E673A12-38FB-4C72-A5E1-76478433DA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5622C3-245E-4C94-B424-D263EA5B6F1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545052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CB0AF959-D7E6-47E7-917E-FB9DA9D1C3A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DD455248-9FBC-4780-B0BC-C55EB9E1A1E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A470739-6D22-471B-A095-E9E8760660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C8758A-122D-4F5D-8744-3D96850E45B9}" type="datetimeFigureOut">
              <a:rPr lang="pt-BR" smtClean="0"/>
              <a:t>22/09/2021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F82B19F-0BB4-4A9A-84E7-14F254841F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857B032-569A-4B60-908F-84F5BF0D17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5622C3-245E-4C94-B424-D263EA5B6F1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036689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AB12D27B-1B74-4E62-A3A2-57C1CB39F0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142AD424-878F-4F3F-9F86-58736C054E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70F8B1D-2007-48AA-8346-B300D6FA6F3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FC8758A-122D-4F5D-8744-3D96850E45B9}" type="datetimeFigureOut">
              <a:rPr lang="pt-BR" smtClean="0"/>
              <a:t>22/09/2021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4FCDB3D-9907-42C8-8CBA-5D0656779E2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C74FC9E-2153-43A6-BED8-5D2143B46E2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65622C3-245E-4C94-B424-D263EA5B6F1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118367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hyperlink" Target="http://giellefire.com/inergen-fire-systems/" TargetMode="Externa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692207"/>
            <a:ext cx="9144000" cy="2387600"/>
          </a:xfrm>
        </p:spPr>
        <p:txBody>
          <a:bodyPr>
            <a:normAutofit fontScale="90000"/>
          </a:bodyPr>
          <a:lstStyle/>
          <a:p>
            <a:r>
              <a:rPr lang="pt-BR" b="1" dirty="0"/>
              <a:t>Sistemas de Detecção e Combate a Incêndio.</a:t>
            </a:r>
            <a:br>
              <a:rPr lang="pt-BR" dirty="0"/>
            </a:b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8188245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270524" cy="821124"/>
          </a:xfrm>
        </p:spPr>
        <p:txBody>
          <a:bodyPr/>
          <a:lstStyle/>
          <a:p>
            <a:r>
              <a:rPr lang="pt-BR" dirty="0"/>
              <a:t>13 de setembro de 2016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pt-BR" sz="3200" dirty="0"/>
              <a:t>Na tentativa de prever a reação do sistema de combate a chamas, uma simulação de incêndio na última semana acabou provocando a destruição quase completa de um data center do ING Bank, um dos principais bancos da Romênia. Conforme informações confirmadas pelo próprio banco, o problema foi causado pela vibração gerada pela liberação de um gás, que deveria reduzir a temperatura na sala dos servidores, mas acabou causando danos irreparáveis aos HDs que faziam parte da infraestrutura.</a:t>
            </a:r>
          </a:p>
        </p:txBody>
      </p:sp>
    </p:spTree>
    <p:extLst>
      <p:ext uri="{BB962C8B-B14F-4D97-AF65-F5344CB8AC3E}">
        <p14:creationId xmlns:p14="http://schemas.microsoft.com/office/powerpoint/2010/main" val="25741432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838200" y="704335"/>
            <a:ext cx="10515600" cy="5472628"/>
          </a:xfrm>
        </p:spPr>
        <p:txBody>
          <a:bodyPr>
            <a:normAutofit/>
          </a:bodyPr>
          <a:lstStyle/>
          <a:p>
            <a:pPr algn="just"/>
            <a:r>
              <a:rPr lang="pt-BR" sz="3200" dirty="0"/>
              <a:t>Como parte de seu sistema de segurança para supressão de incêndios, o ING Bank contava com válvulas de gás inerte, que é liberado no data center para reduzir a temperatura do local sem causar danos aos equipamentos. O problema é que a pressão foi alta demais, causando um barulho de mais de 130 decibéis. E, com o som alto, veio a vibração, que significa a morte para HDs em funcionamento. Praticamente todos foram destruídos.</a:t>
            </a:r>
          </a:p>
        </p:txBody>
      </p:sp>
    </p:spTree>
    <p:extLst>
      <p:ext uri="{BB962C8B-B14F-4D97-AF65-F5344CB8AC3E}">
        <p14:creationId xmlns:p14="http://schemas.microsoft.com/office/powerpoint/2010/main" val="32242482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73206" y="221500"/>
            <a:ext cx="11095630" cy="5423201"/>
          </a:xfrm>
        </p:spPr>
        <p:txBody>
          <a:bodyPr/>
          <a:lstStyle/>
          <a:p>
            <a:pPr algn="just"/>
            <a:r>
              <a:rPr lang="pt-BR" dirty="0"/>
              <a:t>Na maioria dos data centers o sistema de detecção e supressão de incêndio é muito mais </a:t>
            </a:r>
            <a:r>
              <a:rPr lang="pt-BR" dirty="0">
                <a:solidFill>
                  <a:srgbClr val="FF0000"/>
                </a:solidFill>
              </a:rPr>
              <a:t>automatizado</a:t>
            </a:r>
            <a:r>
              <a:rPr lang="pt-BR" dirty="0"/>
              <a:t>. </a:t>
            </a:r>
          </a:p>
          <a:p>
            <a:pPr algn="just"/>
            <a:r>
              <a:rPr lang="pt-BR" dirty="0"/>
              <a:t>Sensores são posicionados estrategicamente dentro do Data Center.</a:t>
            </a:r>
          </a:p>
          <a:p>
            <a:pPr algn="just"/>
            <a:r>
              <a:rPr lang="pt-BR" dirty="0"/>
              <a:t>Existe um cuidado especial em se criar algo que é chamado </a:t>
            </a:r>
            <a:r>
              <a:rPr lang="pt-BR" dirty="0">
                <a:solidFill>
                  <a:srgbClr val="FF0000"/>
                </a:solidFill>
              </a:rPr>
              <a:t>cross-zoned</a:t>
            </a:r>
            <a:r>
              <a:rPr lang="pt-BR" dirty="0"/>
              <a:t>, ou seja, mais de um sensor sobrepõe uma certa área para </a:t>
            </a:r>
            <a:r>
              <a:rPr lang="pt-BR" dirty="0">
                <a:solidFill>
                  <a:srgbClr val="FF0000"/>
                </a:solidFill>
              </a:rPr>
              <a:t>evitar alarme falso</a:t>
            </a:r>
            <a:r>
              <a:rPr lang="pt-BR" dirty="0"/>
              <a:t>.  </a:t>
            </a:r>
          </a:p>
          <a:p>
            <a:pPr algn="just"/>
            <a:r>
              <a:rPr lang="pt-BR" dirty="0"/>
              <a:t>No momento que estes sensores percebem a presença de fogo, o alarme é acionado, o desligamento (shutdown) dos equipamentos é acionado e a descarga do sistema de supressão é disparada.</a:t>
            </a:r>
          </a:p>
          <a:p>
            <a:pPr algn="just"/>
            <a:endParaRPr lang="pt-BR" dirty="0"/>
          </a:p>
          <a:p>
            <a:pPr algn="just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7844384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D757B339-F650-4464-B0B2-845C7BEFE8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398A46-CF2C-4FA0-9E88-485CAE1F4124}" type="slidenum">
              <a:rPr lang="pt-BR" smtClean="0"/>
              <a:t>5</a:t>
            </a:fld>
            <a:endParaRPr lang="pt-BR"/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13B751DB-7056-410A-ABB7-86C7C3CB4AF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4851" t="34221" r="12911" b="9632"/>
          <a:stretch/>
        </p:blipFill>
        <p:spPr>
          <a:xfrm>
            <a:off x="921174" y="754039"/>
            <a:ext cx="10548071" cy="53499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55166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9A7CCF84-D23E-4702-A1A1-DFA5430BE9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398A46-CF2C-4FA0-9E88-485CAE1F4124}" type="slidenum">
              <a:rPr lang="pt-BR" smtClean="0"/>
              <a:t>6</a:t>
            </a:fld>
            <a:endParaRPr lang="pt-BR"/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B23352A3-1982-4853-A64B-0A8618A558F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7090" t="35216" r="11119" b="11424"/>
          <a:stretch/>
        </p:blipFill>
        <p:spPr>
          <a:xfrm>
            <a:off x="846161" y="968991"/>
            <a:ext cx="10513257" cy="51042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85077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609600" y="859809"/>
            <a:ext cx="10972800" cy="5426711"/>
          </a:xfrm>
        </p:spPr>
        <p:txBody>
          <a:bodyPr>
            <a:normAutofit/>
          </a:bodyPr>
          <a:lstStyle/>
          <a:p>
            <a:pPr algn="just"/>
            <a:r>
              <a:rPr lang="pt-BR" dirty="0"/>
              <a:t>Os detectores mais usados onde existe concentração de equipamentos elétricos e eletrônicos do Data Center são os detectores de fumaça. </a:t>
            </a:r>
          </a:p>
          <a:p>
            <a:pPr marL="0" indent="0" algn="just">
              <a:buNone/>
            </a:pPr>
            <a:endParaRPr lang="pt-BR" dirty="0"/>
          </a:p>
          <a:p>
            <a:pPr algn="just"/>
            <a:r>
              <a:rPr lang="pt-BR" dirty="0"/>
              <a:t>Já, no caso onde já existe um ambiente ruidoso e com emissão comum de certos gases (como a sala dos geradores de energia diesel) o detector de chama é o mais utilizado. </a:t>
            </a:r>
          </a:p>
          <a:p>
            <a:pPr marL="0" indent="0" algn="just">
              <a:buNone/>
            </a:pPr>
            <a:endParaRPr lang="pt-BR" dirty="0"/>
          </a:p>
          <a:p>
            <a:pPr algn="just"/>
            <a:r>
              <a:rPr lang="pt-BR" dirty="0"/>
              <a:t>Os detectores de fumaça irão agir antes mesmo da existência de fogo, o que é fundamental para a proteção de servidores, por exemplo.</a:t>
            </a:r>
          </a:p>
        </p:txBody>
      </p:sp>
    </p:spTree>
    <p:extLst>
      <p:ext uri="{BB962C8B-B14F-4D97-AF65-F5344CB8AC3E}">
        <p14:creationId xmlns:p14="http://schemas.microsoft.com/office/powerpoint/2010/main" val="31559509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09600" y="0"/>
            <a:ext cx="10972800" cy="1143000"/>
          </a:xfrm>
        </p:spPr>
        <p:txBody>
          <a:bodyPr/>
          <a:lstStyle/>
          <a:p>
            <a:r>
              <a:rPr lang="pt-BR" dirty="0"/>
              <a:t>Cuidados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718782" y="902021"/>
            <a:ext cx="10972800" cy="4429156"/>
          </a:xfrm>
        </p:spPr>
        <p:txBody>
          <a:bodyPr/>
          <a:lstStyle/>
          <a:p>
            <a:pPr algn="just"/>
            <a:r>
              <a:rPr lang="pt-BR" dirty="0"/>
              <a:t>Ao detectar um incêndio, o sistema não pode disparar imediatamente gases (caso este seja o sistema) para supressão, quando não planejado o uso de gases especiais, matando as pessoas que estão no local. </a:t>
            </a:r>
          </a:p>
          <a:p>
            <a:pPr algn="just"/>
            <a:r>
              <a:rPr lang="pt-BR" dirty="0"/>
              <a:t>É necessário um planejamento cuidadoso, mesclado com treinamento para o cálculo exato do tempo necessário para as pessoas saírem. </a:t>
            </a:r>
          </a:p>
          <a:p>
            <a:pPr algn="just"/>
            <a:r>
              <a:rPr lang="pt-BR" dirty="0"/>
              <a:t>Por outro lado um segundo a mais pode significar perda dos dados. Também preocupa os efeitos colaterais dos agentes de supressão, notadamente na camada de ozônio, contribuindo para o efeito estufa.</a:t>
            </a:r>
          </a:p>
          <a:p>
            <a:pPr algn="just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81524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INERGEN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pt-BR" sz="3200" dirty="0"/>
              <a:t>É uma mistura de gases nas seguintes proporções: 52% de nitrogênio, 40% de argônio e 8% de CO</a:t>
            </a:r>
            <a:r>
              <a:rPr lang="pt-BR" sz="3200" baseline="-25000" dirty="0"/>
              <a:t>2</a:t>
            </a:r>
            <a:r>
              <a:rPr lang="pt-BR" sz="3200" dirty="0"/>
              <a:t>. </a:t>
            </a:r>
          </a:p>
          <a:p>
            <a:pPr algn="just"/>
            <a:r>
              <a:rPr lang="pt-BR" sz="3200" dirty="0"/>
              <a:t>Estas substâncias já estão presentes no ar que respiramos. </a:t>
            </a:r>
          </a:p>
          <a:p>
            <a:pPr algn="just"/>
            <a:r>
              <a:rPr lang="pt-BR" sz="3200" dirty="0"/>
              <a:t>Esta baixa concentração de CO</a:t>
            </a:r>
            <a:r>
              <a:rPr lang="pt-BR" sz="3200" baseline="-25000" dirty="0"/>
              <a:t>2 </a:t>
            </a:r>
            <a:r>
              <a:rPr lang="pt-BR" sz="3200" dirty="0"/>
              <a:t>estimula, naturalmente, um suspiro profundo nas pessoas, garantindo que o oxigênio necessário seja devidamente suprimido, mesmo para quem estiver dormindo.</a:t>
            </a:r>
          </a:p>
        </p:txBody>
      </p:sp>
    </p:spTree>
    <p:extLst>
      <p:ext uri="{BB962C8B-B14F-4D97-AF65-F5344CB8AC3E}">
        <p14:creationId xmlns:p14="http://schemas.microsoft.com/office/powerpoint/2010/main" val="25946008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838200" y="864973"/>
            <a:ext cx="10515600" cy="5311990"/>
          </a:xfrm>
        </p:spPr>
        <p:txBody>
          <a:bodyPr/>
          <a:lstStyle/>
          <a:p>
            <a:pPr algn="just"/>
            <a:r>
              <a:rPr lang="pt-BR" dirty="0"/>
              <a:t>Este gás inerte garante que o fogo será extinto e que não haverá qualquer resíduo.</a:t>
            </a:r>
          </a:p>
          <a:p>
            <a:pPr algn="just"/>
            <a:r>
              <a:rPr lang="pt-BR" dirty="0"/>
              <a:t>Podemos colocar o Data Center imediatamente em funcionamento novamente, assim que descobrirmos a razão do incêndio. </a:t>
            </a:r>
          </a:p>
          <a:p>
            <a:pPr algn="just"/>
            <a:r>
              <a:rPr lang="pt-BR" dirty="0"/>
              <a:t>Tem a desvantagem de exigir espaços para o armazenamento em cilindros sob alta pressão. O problema é bem considerável. </a:t>
            </a:r>
          </a:p>
          <a:p>
            <a:pPr algn="just"/>
            <a:r>
              <a:rPr lang="pt-BR" dirty="0"/>
              <a:t>Para um Data Center médio, são necessários mais de 40 destes cilindros.</a:t>
            </a:r>
          </a:p>
          <a:p>
            <a:pPr algn="just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041958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Resultado de imagem para inergen">
            <a:hlinkClick r:id="rId2"/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2436" y="843348"/>
            <a:ext cx="10691716" cy="49025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5395183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9492049" cy="771697"/>
          </a:xfrm>
        </p:spPr>
        <p:txBody>
          <a:bodyPr>
            <a:normAutofit fontScale="90000"/>
          </a:bodyPr>
          <a:lstStyle/>
          <a:p>
            <a:pPr lvl="0"/>
            <a:br>
              <a:rPr lang="pt-BR" dirty="0"/>
            </a:br>
            <a:r>
              <a:rPr lang="pt-BR" dirty="0" err="1"/>
              <a:t>Argonite</a:t>
            </a:r>
            <a:r>
              <a:rPr lang="pt-BR" dirty="0"/>
              <a:t>.</a:t>
            </a:r>
            <a:br>
              <a:rPr lang="pt-BR" dirty="0"/>
            </a:b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838200" y="1495168"/>
            <a:ext cx="10515600" cy="4681795"/>
          </a:xfrm>
        </p:spPr>
        <p:txBody>
          <a:bodyPr/>
          <a:lstStyle/>
          <a:p>
            <a:pPr algn="just"/>
            <a:r>
              <a:rPr lang="pt-BR" sz="3200" dirty="0"/>
              <a:t>A </a:t>
            </a:r>
            <a:r>
              <a:rPr lang="pt-BR" sz="3200" dirty="0" err="1"/>
              <a:t>argonite</a:t>
            </a:r>
            <a:r>
              <a:rPr lang="pt-BR" sz="3200" dirty="0"/>
              <a:t> trata-se de uma mistura de 50% de Nitrogênio com 50% de argônio. </a:t>
            </a:r>
          </a:p>
          <a:p>
            <a:pPr algn="just"/>
            <a:r>
              <a:rPr lang="pt-BR" sz="3200" dirty="0"/>
              <a:t>Tem praticamente o mesmo efeito do </a:t>
            </a:r>
            <a:r>
              <a:rPr lang="pt-BR" sz="3200" dirty="0" err="1"/>
              <a:t>Inergen</a:t>
            </a:r>
            <a:r>
              <a:rPr lang="pt-BR" sz="3200" dirty="0"/>
              <a:t> (diminui a concentração de oxigênio) e também precisa de volume para armazenamento. </a:t>
            </a:r>
          </a:p>
          <a:p>
            <a:pPr algn="just"/>
            <a:r>
              <a:rPr lang="pt-BR" sz="3200" dirty="0"/>
              <a:t>Mas tem a vantagem de não possuir o CO</a:t>
            </a:r>
            <a:r>
              <a:rPr lang="pt-BR" sz="3200" baseline="-25000" dirty="0"/>
              <a:t>2</a:t>
            </a:r>
            <a:r>
              <a:rPr lang="pt-BR" sz="3200" dirty="0"/>
              <a:t> em sua fórmula.</a:t>
            </a:r>
          </a:p>
          <a:p>
            <a:pPr algn="just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10912971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AAE343EADE1F944FB1DE5D179F821929" ma:contentTypeVersion="3" ma:contentTypeDescription="Crie um novo documento." ma:contentTypeScope="" ma:versionID="23f78dce8c82aa5307e93f233ecb8661">
  <xsd:schema xmlns:xsd="http://www.w3.org/2001/XMLSchema" xmlns:xs="http://www.w3.org/2001/XMLSchema" xmlns:p="http://schemas.microsoft.com/office/2006/metadata/properties" xmlns:ns2="1ef0a13e-fbd0-44e8-9ddc-c9c48fc3e6c0" targetNamespace="http://schemas.microsoft.com/office/2006/metadata/properties" ma:root="true" ma:fieldsID="9c7288372653af616bfd7445030150cb" ns2:_="">
    <xsd:import namespace="1ef0a13e-fbd0-44e8-9ddc-c9c48fc3e6c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ef0a13e-fbd0-44e8-9ddc-c9c48fc3e6c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4117BB3C-3447-43AF-81DF-656AAF0B7D75}"/>
</file>

<file path=customXml/itemProps2.xml><?xml version="1.0" encoding="utf-8"?>
<ds:datastoreItem xmlns:ds="http://schemas.openxmlformats.org/officeDocument/2006/customXml" ds:itemID="{657C459A-7751-4BC0-806F-620942D1004B}"/>
</file>

<file path=customXml/itemProps3.xml><?xml version="1.0" encoding="utf-8"?>
<ds:datastoreItem xmlns:ds="http://schemas.openxmlformats.org/officeDocument/2006/customXml" ds:itemID="{EBCBA35D-117A-4AAA-A570-D363FAFA2C1E}"/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644</Words>
  <Application>Microsoft Office PowerPoint</Application>
  <PresentationFormat>Widescreen</PresentationFormat>
  <Paragraphs>31</Paragraphs>
  <Slides>12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Calibri Light</vt:lpstr>
      <vt:lpstr>Tema do Office</vt:lpstr>
      <vt:lpstr>Sistemas de Detecção e Combate a Incêndio. </vt:lpstr>
      <vt:lpstr>13 de setembro de 2016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Cuidados</vt:lpstr>
      <vt:lpstr>INERGEN</vt:lpstr>
      <vt:lpstr>Apresentação do PowerPoint</vt:lpstr>
      <vt:lpstr>Apresentação do PowerPoint</vt:lpstr>
      <vt:lpstr> Argonite.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Sistemas de Detecção e Combate a Incêndio. </dc:title>
  <dc:creator>RODRIGO AMORIM MOTTA CARVALHO</dc:creator>
  <cp:lastModifiedBy>RODRIGO AMORIM MOTTA CARVALHO</cp:lastModifiedBy>
  <cp:revision>2</cp:revision>
  <dcterms:created xsi:type="dcterms:W3CDTF">2021-09-22T15:11:42Z</dcterms:created>
  <dcterms:modified xsi:type="dcterms:W3CDTF">2021-09-22T15:12:42Z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0x010100AAE343EADE1F944FB1DE5D179F821929</vt:lpwstr>
  </property>
</Properties>
</file>